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FB2"/>
    <a:srgbClr val="EBEB16"/>
    <a:srgbClr val="E7EC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67"/>
  </p:normalViewPr>
  <p:slideViewPr>
    <p:cSldViewPr snapToGrid="0" snapToObjects="1">
      <p:cViewPr varScale="1">
        <p:scale>
          <a:sx n="110" d="100"/>
          <a:sy n="110" d="100"/>
        </p:scale>
        <p:origin x="7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047832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5610" y="2926872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E0EF"/>
                </a:solidFill>
                <a:latin typeface="Microsoft YaHei"/>
              </a:defRPr>
            </a:pPr>
            <a:r>
              <a:rPr lang="en-US" altLang="zh-CN" sz="2800" dirty="0"/>
              <a:t>——</a:t>
            </a:r>
            <a:r>
              <a:rPr sz="2800" dirty="0" err="1"/>
              <a:t>毕业设计中期答辩</a:t>
            </a:r>
            <a:endParaRPr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85610" y="1890110"/>
            <a:ext cx="106637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60"/>
              </a:spcAft>
              <a:defRPr sz="3600" b="1">
                <a:solidFill>
                  <a:srgbClr val="FFFFFF"/>
                </a:solidFill>
              </a:defRPr>
            </a:pPr>
            <a:r>
              <a:rPr sz="4400" dirty="0" err="1"/>
              <a:t>基于</a:t>
            </a:r>
            <a:r>
              <a:rPr lang="en-US" altLang="zh-CN" sz="4400" dirty="0" err="1"/>
              <a:t>LLM</a:t>
            </a:r>
            <a:r>
              <a:rPr sz="4400" dirty="0" err="1"/>
              <a:t>智能体的Web无障碍智能检测系统</a:t>
            </a:r>
            <a:endParaRPr sz="4400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4365942"/>
            <a:ext cx="731520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1600" b="0">
                <a:solidFill>
                  <a:srgbClr val="AACCEE"/>
                </a:solidFill>
              </a:defRPr>
            </a:pPr>
            <a:r>
              <a:rPr sz="20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libaba PuHuiTi H" pitchFamily="18" charset="-122"/>
              </a:rPr>
              <a:t>答辩人</a:t>
            </a:r>
            <a:r>
              <a:rPr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 H" pitchFamily="18" charset="-122"/>
              </a:rPr>
              <a:t>：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 H" pitchFamily="18" charset="-122"/>
              </a:rPr>
              <a:t>袁烁</a:t>
            </a:r>
            <a:r>
              <a:rPr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 H" pitchFamily="18" charset="-122"/>
              </a:rPr>
              <a:t>        学号：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 H" pitchFamily="18" charset="-122"/>
              </a:rPr>
              <a:t>162210417</a:t>
            </a:r>
            <a:endParaRPr sz="2000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 H" pitchFamily="18" charset="-122"/>
            </a:endParaRPr>
          </a:p>
          <a:p>
            <a:pPr algn="l">
              <a:spcAft>
                <a:spcPts val="1600"/>
              </a:spcAft>
              <a:defRPr sz="1600" b="0">
                <a:solidFill>
                  <a:srgbClr val="AACCEE"/>
                </a:solidFill>
              </a:defRPr>
            </a:pPr>
            <a:r>
              <a:rPr sz="20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libaba PuHuiTi H" pitchFamily="18" charset="-122"/>
              </a:rPr>
              <a:t>指导教师</a:t>
            </a:r>
            <a:r>
              <a:rPr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 H" pitchFamily="18" charset="-122"/>
              </a:rPr>
              <a:t>：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 H" pitchFamily="18" charset="-122"/>
              </a:rPr>
              <a:t>李丕绩</a:t>
            </a:r>
            <a:r>
              <a:rPr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 H" pitchFamily="18" charset="-122"/>
              </a:rPr>
              <a:t> </a:t>
            </a:r>
            <a:r>
              <a:rPr sz="20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libaba PuHuiTi H" pitchFamily="18" charset="-122"/>
              </a:rPr>
              <a:t>教授</a:t>
            </a:r>
            <a:endParaRPr sz="2000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 H" pitchFamily="18" charset="-122"/>
            </a:endParaRPr>
          </a:p>
          <a:p>
            <a:pPr algn="l">
              <a:spcAft>
                <a:spcPts val="1600"/>
              </a:spcAft>
              <a:defRPr sz="1600" b="0">
                <a:solidFill>
                  <a:srgbClr val="AACCEE"/>
                </a:solidFill>
              </a:defRPr>
            </a:pPr>
            <a:r>
              <a:rPr sz="20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libaba PuHuiTi H" pitchFamily="18" charset="-122"/>
              </a:rPr>
              <a:t>专业</a:t>
            </a:r>
            <a:r>
              <a:rPr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 H" pitchFamily="18" charset="-122"/>
              </a:rPr>
              <a:t>：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 H" pitchFamily="18" charset="-122"/>
              </a:rPr>
              <a:t>人工智能</a:t>
            </a:r>
            <a:r>
              <a:rPr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Alibaba PuHuiTi H" pitchFamily="18" charset="-122"/>
              </a:rPr>
              <a:t>        </a:t>
            </a:r>
            <a:r>
              <a:rPr sz="20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Alibaba PuHuiTi H" pitchFamily="18" charset="-122"/>
              </a:rPr>
              <a:t>院系：计算机科学与技术学院</a:t>
            </a:r>
            <a:endParaRPr sz="2000" dirty="0">
              <a:latin typeface="Microsoft YaHei" panose="020B0503020204020204" pitchFamily="34" charset="-122"/>
              <a:ea typeface="Microsoft YaHei" panose="020B0503020204020204" pitchFamily="34" charset="-122"/>
              <a:cs typeface="Alibaba PuHuiTi H" pitchFamily="18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rPr sz="1600" dirty="0"/>
              <a:t>202</a:t>
            </a:r>
            <a:r>
              <a:rPr lang="en-US" altLang="zh-CN" sz="1600" dirty="0"/>
              <a:t>6</a:t>
            </a:r>
            <a:r>
              <a:rPr sz="1600" dirty="0"/>
              <a:t>年 </a:t>
            </a:r>
            <a:r>
              <a:rPr lang="en-US" altLang="zh-CN" sz="1600" dirty="0"/>
              <a:t>4</a:t>
            </a:r>
            <a:r>
              <a:rPr sz="1600" dirty="0"/>
              <a:t>月</a:t>
            </a:r>
            <a:r>
              <a:rPr lang="en-US" altLang="zh-CN" sz="1600" dirty="0"/>
              <a:t>3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endParaRPr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E0EF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417320"/>
            <a:ext cx="502920" cy="502920"/>
          </a:xfrm>
          <a:prstGeom prst="ellipse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898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研究背景与意义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190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Web无障碍的现状与挑战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4630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3898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研究内容与目标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7190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关键科学问题与技术目标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2651760"/>
            <a:ext cx="502920" cy="502920"/>
          </a:xfrm>
          <a:prstGeom prst="ellipse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6974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6243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系统总体设计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9535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架构设计与核心模块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651760"/>
            <a:ext cx="502920" cy="502920"/>
          </a:xfrm>
          <a:prstGeom prst="ellipse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26974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243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多智能体协同引擎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535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LangGraph状态机编排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3886200"/>
            <a:ext cx="502920" cy="502920"/>
          </a:xfrm>
          <a:prstGeom prst="ellipse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931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8587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自适应智能遍历器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187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启发式探索与语义去重</a:t>
            </a:r>
          </a:p>
        </p:txBody>
      </p:sp>
      <p:sp>
        <p:nvSpPr>
          <p:cNvPr id="26" name="Oval 25"/>
          <p:cNvSpPr/>
          <p:nvPr/>
        </p:nvSpPr>
        <p:spPr>
          <a:xfrm>
            <a:off x="6217920" y="3886200"/>
            <a:ext cx="502920" cy="502920"/>
          </a:xfrm>
          <a:prstGeom prst="ellipse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3931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8587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多层次检测引擎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187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规则+AI+视觉多模态融合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5120640"/>
            <a:ext cx="502920" cy="5029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0932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人机协同工作台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4223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实时监控与交互标注</a:t>
            </a:r>
          </a:p>
        </p:txBody>
      </p:sp>
      <p:sp>
        <p:nvSpPr>
          <p:cNvPr id="34" name="Oval 33"/>
          <p:cNvSpPr/>
          <p:nvPr/>
        </p:nvSpPr>
        <p:spPr>
          <a:xfrm>
            <a:off x="6217920" y="5120640"/>
            <a:ext cx="502920" cy="5029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63640" y="5166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0932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中期进展与计划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4223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完成情况与后续安排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01  研究背景与意义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E0EF"/>
                </a:solidFill>
                <a:latin typeface="Microsoft YaHei"/>
              </a:defRPr>
            </a:pPr>
            <a:r>
              <a:t>Research Background &amp; Significance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2F5C"/>
                </a:solidFill>
                <a:latin typeface="Microsoft YaHei"/>
              </a:defRPr>
            </a:pPr>
            <a:r>
              <a:rPr dirty="0" err="1"/>
              <a:t>Web无障碍</a:t>
            </a:r>
            <a:r>
              <a:rPr dirty="0"/>
              <a:t>: </a:t>
            </a:r>
            <a:r>
              <a:rPr dirty="0" err="1"/>
              <a:t>数字包容的基石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029200" cy="191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dirty="0">
                <a:solidFill>
                  <a:srgbClr val="0096C7"/>
                </a:solidFill>
              </a:rPr>
              <a:t>●  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全球超过13亿人（约16%）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存在某种形式的残障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 — WHO 2023</a:t>
            </a:r>
          </a:p>
          <a:p>
            <a:pPr>
              <a:spcAft>
                <a:spcPts val="900"/>
              </a:spcAft>
            </a:pPr>
            <a:r>
              <a:rPr sz="1400" dirty="0">
                <a:solidFill>
                  <a:srgbClr val="0096C7"/>
                </a:solidFill>
              </a:rPr>
              <a:t>●  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WCAG 2.1/2.2 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已成为国际Web无障碍核心标准</a:t>
            </a:r>
            <a:endParaRPr sz="16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900"/>
              </a:spcAft>
            </a:pPr>
            <a:r>
              <a:rPr sz="1400" dirty="0">
                <a:solidFill>
                  <a:srgbClr val="0096C7"/>
                </a:solidFill>
              </a:rPr>
              <a:t>●  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我国《无障碍环境建设法》2023年正式施行</a:t>
            </a:r>
          </a:p>
          <a:p>
            <a:pPr>
              <a:spcAft>
                <a:spcPts val="900"/>
              </a:spcAft>
            </a:pPr>
            <a:r>
              <a:rPr sz="1400" dirty="0">
                <a:solidFill>
                  <a:srgbClr val="0096C7"/>
                </a:solidFill>
              </a:rPr>
              <a:t>●  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96.3%的主流网站首页存在可检测的无障碍问题 — 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WebAIM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rPr dirty="0" err="1"/>
              <a:t>现有自动化工具的局限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583680" y="178308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72837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遍历策略僵化</a:t>
            </a:r>
            <a:endParaRPr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6858000" y="201196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 sz="1400" dirty="0" err="1"/>
              <a:t>固定规则爬取，无法适应动态内容和SPA</a:t>
            </a:r>
            <a:endParaRPr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6583680" y="238323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Microsoft YaHei"/>
              </a:defRPr>
            </a:pPr>
            <a:r>
              <a:rPr dirty="0"/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35747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rPr sz="1600" b="1" dirty="0" err="1">
                <a:solidFill>
                  <a:srgbClr val="333333"/>
                </a:solidFill>
                <a:latin typeface="Microsoft YaHei"/>
              </a:rPr>
              <a:t>干扰处理缺失</a:t>
            </a:r>
            <a:endParaRPr sz="1600" b="1" dirty="0">
              <a:solidFill>
                <a:srgbClr val="333333"/>
              </a:solidFill>
              <a:latin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0" y="261351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 sz="1400" dirty="0" err="1"/>
              <a:t>弹窗</a:t>
            </a:r>
            <a:r>
              <a:rPr sz="1400" dirty="0"/>
              <a:t>/Cookie/</a:t>
            </a:r>
            <a:r>
              <a:rPr sz="1400" dirty="0" err="1">
                <a:solidFill>
                  <a:srgbClr val="666666"/>
                </a:solidFill>
                <a:latin typeface="Microsoft YaHei"/>
              </a:rPr>
              <a:t>广告阻断检测流程</a:t>
            </a:r>
            <a:endParaRPr sz="1400" dirty="0">
              <a:solidFill>
                <a:srgbClr val="666666"/>
              </a:solidFill>
              <a:latin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83680" y="2970513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Microsoft YaHei"/>
              </a:defRPr>
            </a:pPr>
            <a:r>
              <a:rPr dirty="0"/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93187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rPr sz="1600" b="1" dirty="0" err="1">
                <a:solidFill>
                  <a:srgbClr val="333333"/>
                </a:solidFill>
                <a:latin typeface="Microsoft YaHei"/>
              </a:rPr>
              <a:t>检测维度单一</a:t>
            </a:r>
            <a:endParaRPr sz="1600" b="1" dirty="0">
              <a:solidFill>
                <a:srgbClr val="333333"/>
              </a:solidFill>
              <a:latin typeface="Microsoft Ya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0" y="31750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 sz="1400" dirty="0" err="1"/>
              <a:t>仅依赖DOM规则，</a:t>
            </a:r>
            <a:r>
              <a:rPr sz="1400" dirty="0" err="1">
                <a:solidFill>
                  <a:srgbClr val="666666"/>
                </a:solidFill>
                <a:latin typeface="Microsoft YaHei"/>
              </a:rPr>
              <a:t>难以发现语义级问题</a:t>
            </a:r>
            <a:endParaRPr sz="1400" dirty="0">
              <a:solidFill>
                <a:srgbClr val="666666"/>
              </a:solidFill>
              <a:latin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0" y="353203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49339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rPr sz="1600" b="1" dirty="0" err="1">
                <a:solidFill>
                  <a:srgbClr val="333333"/>
                </a:solidFill>
                <a:latin typeface="Microsoft YaHei"/>
              </a:rPr>
              <a:t>用户视角缺位</a:t>
            </a:r>
            <a:endParaRPr sz="1600" b="1" dirty="0">
              <a:solidFill>
                <a:srgbClr val="333333"/>
              </a:solidFill>
              <a:latin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0" y="374942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 sz="1400" dirty="0" err="1">
                <a:solidFill>
                  <a:srgbClr val="666666"/>
                </a:solidFill>
                <a:latin typeface="Microsoft YaHei"/>
              </a:rPr>
              <a:t>无法从真实用户认知角度评估可用性</a:t>
            </a:r>
            <a:endParaRPr sz="1400" dirty="0">
              <a:solidFill>
                <a:srgbClr val="666666"/>
              </a:solidFill>
              <a:latin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2F5C"/>
                </a:solidFill>
                <a:latin typeface="Microsoft YaHei"/>
              </a:defRPr>
            </a:pPr>
            <a:r>
              <a:t>本研究的核心价值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92040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Microsoft YaHei"/>
              </a:defRPr>
            </a:pPr>
            <a:r>
              <a:rPr sz="1600" b="1" dirty="0" err="1">
                <a:solidFill>
                  <a:srgbClr val="0096C7"/>
                </a:solidFill>
                <a:latin typeface="Microsoft YaHei"/>
              </a:rPr>
              <a:t>理论层面</a:t>
            </a:r>
            <a:endParaRPr sz="1600" b="1" dirty="0">
              <a:solidFill>
                <a:srgbClr val="0096C7"/>
              </a:solidFill>
              <a:latin typeface="Microsoft Ya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011680" y="4892040"/>
            <a:ext cx="9326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提出'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认知驱动'</a:t>
            </a:r>
            <a:r>
              <a:rPr sz="1600" dirty="0" err="1"/>
              <a:t>的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Web无障碍智能检测范式</a:t>
            </a:r>
            <a:r>
              <a:rPr sz="1600" dirty="0" err="1"/>
              <a:t>，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融合多Agent协同与多模态感知</a:t>
            </a:r>
            <a:endParaRPr sz="1600" dirty="0">
              <a:solidFill>
                <a:srgbClr val="333333"/>
              </a:solidFill>
              <a:latin typeface="Microsoft Ya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5225683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Microsoft YaHei"/>
              </a:defRPr>
            </a:pPr>
            <a:r>
              <a:rPr sz="1600" b="1" dirty="0" err="1">
                <a:solidFill>
                  <a:srgbClr val="0096C7"/>
                </a:solidFill>
                <a:latin typeface="Microsoft YaHei"/>
              </a:rPr>
              <a:t>技术层面</a:t>
            </a:r>
            <a:endParaRPr sz="1600" b="1" dirty="0">
              <a:solidFill>
                <a:srgbClr val="0096C7"/>
              </a:solidFill>
              <a:latin typeface="Microsoft YaHe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011680" y="5212080"/>
            <a:ext cx="9326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构建端到端自动化系统，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突破遍历</a:t>
            </a:r>
            <a:r>
              <a:rPr sz="1600" dirty="0" err="1"/>
              <a:t>、检测、响应三大技术瓶颈</a:t>
            </a:r>
            <a:endParaRPr sz="1600" dirty="0"/>
          </a:p>
        </p:txBody>
      </p:sp>
      <p:sp>
        <p:nvSpPr>
          <p:cNvPr id="27" name="TextBox 26"/>
          <p:cNvSpPr txBox="1"/>
          <p:nvPr/>
        </p:nvSpPr>
        <p:spPr>
          <a:xfrm>
            <a:off x="822960" y="5553370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Microsoft YaHei"/>
              </a:defRPr>
            </a:pPr>
            <a:r>
              <a:rPr sz="1600" dirty="0" err="1"/>
              <a:t>实践层面</a:t>
            </a:r>
            <a:endParaRPr sz="1600" dirty="0"/>
          </a:p>
        </p:txBody>
      </p:sp>
      <p:sp>
        <p:nvSpPr>
          <p:cNvPr id="28" name="TextBox 27"/>
          <p:cNvSpPr txBox="1"/>
          <p:nvPr/>
        </p:nvSpPr>
        <p:spPr>
          <a:xfrm>
            <a:off x="2011680" y="5532120"/>
            <a:ext cx="9326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为残障用户提供更高质量的Web体验评估，助力数字包容社会建设</a:t>
            </a:r>
            <a:endParaRPr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02  研究内容与目标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E0EF"/>
                </a:solidFill>
                <a:latin typeface="Microsoft YaHei"/>
              </a:defRPr>
            </a:pPr>
            <a:r>
              <a:t>Research Content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2F5C"/>
                </a:solidFill>
                <a:latin typeface="Microsoft YaHei"/>
              </a:defRPr>
            </a:pPr>
            <a:r>
              <a:t>关键科学问题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03520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40"/>
              </a:spcAft>
            </a:pPr>
            <a:r>
              <a:rPr sz="1600" dirty="0">
                <a:solidFill>
                  <a:srgbClr val="F39C12"/>
                </a:solidFill>
              </a:rPr>
              <a:t>●  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Q1: 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如何让多个智能体协同完成复杂的Web无障碍检测任务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？</a:t>
            </a:r>
          </a:p>
          <a:p>
            <a:pPr>
              <a:spcAft>
                <a:spcPts val="1040"/>
              </a:spcAft>
            </a:pPr>
            <a:r>
              <a:rPr sz="1600" dirty="0">
                <a:solidFill>
                  <a:srgbClr val="F39C12"/>
                </a:solidFill>
              </a:rPr>
              <a:t>●  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Q2: 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如何在动态Web环境中实现自适应、高覆盖率的页面遍历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？</a:t>
            </a:r>
          </a:p>
          <a:p>
            <a:pPr>
              <a:spcAft>
                <a:spcPts val="1040"/>
              </a:spcAft>
            </a:pPr>
            <a:r>
              <a:rPr sz="1600" dirty="0">
                <a:solidFill>
                  <a:srgbClr val="F39C12"/>
                </a:solidFill>
              </a:rPr>
              <a:t>●  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Q3: 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如何融合规则、语义与视觉多维度实现全面的无障碍问题检测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2F5C"/>
                </a:solidFill>
                <a:latin typeface="Microsoft YaHei"/>
              </a:defRPr>
            </a:pPr>
            <a:r>
              <a:t>技术目标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37360"/>
            <a:ext cx="73152" cy="50292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多Agent编排引擎</a:t>
            </a:r>
            <a:endParaRPr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 sz="1400" dirty="0" err="1"/>
              <a:t>基于LangGraph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实现</a:t>
            </a:r>
            <a:r>
              <a:rPr sz="1400" dirty="0" err="1"/>
              <a:t>四Agent协同</a:t>
            </a:r>
            <a:endParaRPr sz="1400" dirty="0"/>
          </a:p>
        </p:txBody>
      </p:sp>
      <p:sp>
        <p:nvSpPr>
          <p:cNvPr id="12" name="Rounded Rectangle 11"/>
          <p:cNvSpPr/>
          <p:nvPr/>
        </p:nvSpPr>
        <p:spPr>
          <a:xfrm>
            <a:off x="6400800" y="2331720"/>
            <a:ext cx="73152" cy="50292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233172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自适应遍历器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675120" y="2606040"/>
            <a:ext cx="4754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 sz="1400" dirty="0" err="1"/>
              <a:t>启发式评分+语义去重+突发事件响应</a:t>
            </a:r>
            <a:endParaRPr sz="1400" dirty="0"/>
          </a:p>
        </p:txBody>
      </p:sp>
      <p:sp>
        <p:nvSpPr>
          <p:cNvPr id="15" name="Rounded Rectangle 14"/>
          <p:cNvSpPr/>
          <p:nvPr/>
        </p:nvSpPr>
        <p:spPr>
          <a:xfrm>
            <a:off x="6400800" y="2926080"/>
            <a:ext cx="73152" cy="50292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292608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多层检测引擎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6675120" y="3200400"/>
            <a:ext cx="4754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 sz="1400" dirty="0" err="1"/>
              <a:t>规则检测+AI语义+多模态视觉三层融合</a:t>
            </a:r>
            <a:endParaRPr sz="1400" dirty="0"/>
          </a:p>
        </p:txBody>
      </p:sp>
      <p:sp>
        <p:nvSpPr>
          <p:cNvPr id="18" name="Rounded Rectangle 17"/>
          <p:cNvSpPr/>
          <p:nvPr/>
        </p:nvSpPr>
        <p:spPr>
          <a:xfrm>
            <a:off x="6400800" y="3520440"/>
            <a:ext cx="73152" cy="50292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352044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人机协同工作台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675120" y="3794760"/>
            <a:ext cx="4754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 sz="1400" dirty="0" err="1"/>
              <a:t>实时监控+交互标注+报告生成</a:t>
            </a:r>
            <a:endParaRPr sz="1400" dirty="0"/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11247120" cy="2286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2F5C"/>
                </a:solidFill>
                <a:latin typeface="Microsoft YaHei"/>
              </a:defRPr>
            </a:pPr>
            <a:r>
              <a:t>创新点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09160"/>
            <a:ext cx="1005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C7"/>
                </a:solidFill>
                <a:latin typeface="Microsoft YaHei"/>
              </a:defRPr>
            </a:pPr>
            <a:r>
              <a:rPr sz="1400" dirty="0" err="1"/>
              <a:t>创新点一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1645919" y="4709160"/>
            <a:ext cx="32733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rPr sz="1400" dirty="0" err="1"/>
              <a:t>基于LangGraph的多智能体动态编排</a:t>
            </a:r>
            <a:endParaRPr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5578996" y="470916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rPr dirty="0"/>
              <a:t>Master </a:t>
            </a:r>
            <a:r>
              <a:rPr dirty="0" err="1"/>
              <a:t>Agent根据检测进度动态调度探索</a:t>
            </a:r>
            <a:r>
              <a:rPr dirty="0"/>
              <a:t>/</a:t>
            </a:r>
            <a:r>
              <a:rPr dirty="0" err="1"/>
              <a:t>检测</a:t>
            </a:r>
            <a:r>
              <a:rPr dirty="0"/>
              <a:t>/</a:t>
            </a:r>
            <a:r>
              <a:rPr dirty="0" err="1"/>
              <a:t>报告阶段，支持自适应迭代决策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731520" y="5029200"/>
            <a:ext cx="914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C7"/>
                </a:solidFill>
                <a:latin typeface="Microsoft YaHei"/>
              </a:defRPr>
            </a:pPr>
            <a:r>
              <a:rPr sz="1400" dirty="0" err="1"/>
              <a:t>创新点二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1645920" y="5029200"/>
            <a:ext cx="3273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rPr sz="1400" dirty="0" err="1"/>
              <a:t>启发式+语义的自适应遍历策略</a:t>
            </a:r>
            <a:endParaRPr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5578996" y="502920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rPr dirty="0" err="1"/>
              <a:t>结合URL特征评分和DOM结构模板签名去重，解决动态页面高效覆盖问题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731520" y="5349240"/>
            <a:ext cx="914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C7"/>
                </a:solidFill>
                <a:latin typeface="Microsoft YaHei"/>
              </a:defRPr>
            </a:pPr>
            <a:r>
              <a:rPr sz="1400" dirty="0" err="1"/>
              <a:t>创新点三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1645919" y="5349240"/>
            <a:ext cx="31370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rPr sz="1400" dirty="0" err="1"/>
              <a:t>规则-语义-视觉三层融合检测</a:t>
            </a:r>
            <a:endParaRPr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5578996" y="534924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rPr dirty="0" err="1"/>
              <a:t>首创将多模态LLM视觉分析引入无障碍检测，对比元素外观与标签语义一致性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731520" y="5669280"/>
            <a:ext cx="914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C7"/>
                </a:solidFill>
                <a:latin typeface="Microsoft YaHei"/>
              </a:defRPr>
            </a:pPr>
            <a:r>
              <a:rPr sz="1400" dirty="0" err="1"/>
              <a:t>创新点四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1645919" y="5669280"/>
            <a:ext cx="25884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rPr sz="1400" dirty="0" err="1"/>
              <a:t>长短期记忆驱动的跨会话学习</a:t>
            </a: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5578996" y="566928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rPr dirty="0" err="1"/>
              <a:t>结合情景</a:t>
            </a:r>
            <a:r>
              <a:rPr dirty="0"/>
              <a:t>/</a:t>
            </a:r>
            <a:r>
              <a:rPr dirty="0" err="1"/>
              <a:t>语义</a:t>
            </a:r>
            <a:r>
              <a:rPr dirty="0"/>
              <a:t>/</a:t>
            </a:r>
            <a:r>
              <a:rPr dirty="0" err="1"/>
              <a:t>程序性三类记忆，使系统能在同域检测中持续积累经验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03  系统总体设计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E0EF"/>
                </a:solidFill>
                <a:latin typeface="Microsoft YaHei"/>
              </a:defRPr>
            </a:pPr>
            <a:r>
              <a:t>System 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1549" y="2582842"/>
            <a:ext cx="48488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2F5C"/>
                </a:solidFill>
                <a:latin typeface="Microsoft YaHei"/>
              </a:defRPr>
            </a:pPr>
            <a:r>
              <a:rPr sz="2000" dirty="0" err="1"/>
              <a:t>四大核心模块</a:t>
            </a:r>
            <a:endParaRPr dirty="0"/>
          </a:p>
        </p:txBody>
      </p:sp>
      <p:sp>
        <p:nvSpPr>
          <p:cNvPr id="31" name="Rounded Rectangle 30"/>
          <p:cNvSpPr/>
          <p:nvPr/>
        </p:nvSpPr>
        <p:spPr>
          <a:xfrm>
            <a:off x="291548" y="3100395"/>
            <a:ext cx="5430741" cy="1462516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4429" y="3146115"/>
            <a:ext cx="48488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Microsoft YaHei"/>
              </a:defRPr>
            </a:pPr>
            <a:r>
              <a:rPr sz="1600" dirty="0" err="1"/>
              <a:t>多智能体编排引擎</a:t>
            </a: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474429" y="3507853"/>
            <a:ext cx="48488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rPr lang="e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Master/Crawler/Detector/Reporter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LangGraph状态图动态编排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长短期记忆系统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1548" y="4731157"/>
            <a:ext cx="5430741" cy="1462516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4429" y="4776877"/>
            <a:ext cx="48488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rPr sz="1600" dirty="0" err="1"/>
              <a:t>自适应遍历器</a:t>
            </a:r>
            <a:endParaRPr dirty="0"/>
          </a:p>
        </p:txBody>
      </p:sp>
      <p:sp>
        <p:nvSpPr>
          <p:cNvPr id="38" name="TextBox 37"/>
          <p:cNvSpPr txBox="1"/>
          <p:nvPr/>
        </p:nvSpPr>
        <p:spPr>
          <a:xfrm>
            <a:off x="449912" y="5139498"/>
            <a:ext cx="48488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启发式URL优先级评分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rPr lang="e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DOM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结构模板语义去重</a:t>
            </a:r>
          </a:p>
          <a:p>
            <a:pPr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突发事件自动响应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19" y="3094368"/>
            <a:ext cx="5430741" cy="1462516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3140088"/>
            <a:ext cx="48488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Microsoft YaHei"/>
              </a:defRPr>
            </a:pPr>
            <a:r>
              <a:rPr sz="1600" dirty="0" err="1"/>
              <a:t>多层次检测引擎</a:t>
            </a:r>
            <a:endParaRPr dirty="0"/>
          </a:p>
        </p:txBody>
      </p:sp>
      <p:sp>
        <p:nvSpPr>
          <p:cNvPr id="43" name="TextBox 42"/>
          <p:cNvSpPr txBox="1"/>
          <p:nvPr/>
        </p:nvSpPr>
        <p:spPr>
          <a:xfrm>
            <a:off x="6400800" y="3506796"/>
            <a:ext cx="48488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7条WCAG规则自动检查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rPr lang="en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AI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语义分析补充检测</a:t>
            </a:r>
          </a:p>
          <a:p>
            <a:pPr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多模态视觉对比分析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19" y="4715376"/>
            <a:ext cx="5430741" cy="1462516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0" y="4761096"/>
            <a:ext cx="48488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Microsoft YaHei"/>
              </a:defRPr>
            </a:pPr>
            <a:r>
              <a:rPr sz="1600" dirty="0" err="1"/>
              <a:t>人机协同工作台</a:t>
            </a:r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6400800" y="5115431"/>
            <a:ext cx="48488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rPr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实时WebSocket监控</a:t>
            </a:r>
            <a:endParaRPr 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可视化标注截图</a:t>
            </a:r>
          </a:p>
          <a:p>
            <a:pPr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报告生成与导出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5/14</a:t>
            </a: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189D9F97-F345-42AC-29AA-341B4D541AA4}"/>
              </a:ext>
            </a:extLst>
          </p:cNvPr>
          <p:cNvSpPr/>
          <p:nvPr/>
        </p:nvSpPr>
        <p:spPr>
          <a:xfrm>
            <a:off x="291548" y="1577009"/>
            <a:ext cx="1643269" cy="47124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前端提交任务</a:t>
            </a:r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4C85480B-99ED-1CC9-520B-1B59C3F3BDD7}"/>
              </a:ext>
            </a:extLst>
          </p:cNvPr>
          <p:cNvSpPr/>
          <p:nvPr/>
        </p:nvSpPr>
        <p:spPr>
          <a:xfrm>
            <a:off x="2760428" y="1577006"/>
            <a:ext cx="1643269" cy="47124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后端接收并启动后台任务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047B588B-7E23-2587-710F-DC6C7B1E9EC7}"/>
              </a:ext>
            </a:extLst>
          </p:cNvPr>
          <p:cNvSpPr/>
          <p:nvPr/>
        </p:nvSpPr>
        <p:spPr>
          <a:xfrm>
            <a:off x="5274212" y="1577007"/>
            <a:ext cx="1643269" cy="47124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智能体检测</a:t>
            </a:r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670CAC3C-52D1-6ABF-82AB-A89178AEB206}"/>
              </a:ext>
            </a:extLst>
          </p:cNvPr>
          <p:cNvSpPr/>
          <p:nvPr/>
        </p:nvSpPr>
        <p:spPr>
          <a:xfrm>
            <a:off x="7865165" y="1577007"/>
            <a:ext cx="1643269" cy="47124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实时通知前端</a:t>
            </a:r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0265F3C6-4ED5-9545-812E-9C3E33DCCDD6}"/>
              </a:ext>
            </a:extLst>
          </p:cNvPr>
          <p:cNvSpPr/>
          <p:nvPr/>
        </p:nvSpPr>
        <p:spPr>
          <a:xfrm>
            <a:off x="10334045" y="1577007"/>
            <a:ext cx="1643269" cy="47124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任务完成</a:t>
            </a:r>
          </a:p>
        </p:txBody>
      </p:sp>
      <p:sp>
        <p:nvSpPr>
          <p:cNvPr id="58" name="右箭头 57">
            <a:extLst>
              <a:ext uri="{FF2B5EF4-FFF2-40B4-BE49-F238E27FC236}">
                <a16:creationId xmlns:a16="http://schemas.microsoft.com/office/drawing/2014/main" id="{95290CB4-A3B1-4FDC-9ECD-F1C5D0E49821}"/>
              </a:ext>
            </a:extLst>
          </p:cNvPr>
          <p:cNvSpPr/>
          <p:nvPr/>
        </p:nvSpPr>
        <p:spPr>
          <a:xfrm>
            <a:off x="2122335" y="1694817"/>
            <a:ext cx="450574" cy="23562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右箭头 58">
            <a:extLst>
              <a:ext uri="{FF2B5EF4-FFF2-40B4-BE49-F238E27FC236}">
                <a16:creationId xmlns:a16="http://schemas.microsoft.com/office/drawing/2014/main" id="{9AFB968A-B3C1-5103-C6F9-B9F347D3607E}"/>
              </a:ext>
            </a:extLst>
          </p:cNvPr>
          <p:cNvSpPr/>
          <p:nvPr/>
        </p:nvSpPr>
        <p:spPr>
          <a:xfrm>
            <a:off x="7166036" y="1694817"/>
            <a:ext cx="450574" cy="23562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右箭头 59">
            <a:extLst>
              <a:ext uri="{FF2B5EF4-FFF2-40B4-BE49-F238E27FC236}">
                <a16:creationId xmlns:a16="http://schemas.microsoft.com/office/drawing/2014/main" id="{6C9035EB-2197-1810-1167-36CE1E61D389}"/>
              </a:ext>
            </a:extLst>
          </p:cNvPr>
          <p:cNvSpPr/>
          <p:nvPr/>
        </p:nvSpPr>
        <p:spPr>
          <a:xfrm>
            <a:off x="4613667" y="1694817"/>
            <a:ext cx="450574" cy="23562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右箭头 60">
            <a:extLst>
              <a:ext uri="{FF2B5EF4-FFF2-40B4-BE49-F238E27FC236}">
                <a16:creationId xmlns:a16="http://schemas.microsoft.com/office/drawing/2014/main" id="{F04753ED-CFBF-2114-53DD-322B0AED9E6A}"/>
              </a:ext>
            </a:extLst>
          </p:cNvPr>
          <p:cNvSpPr/>
          <p:nvPr/>
        </p:nvSpPr>
        <p:spPr>
          <a:xfrm>
            <a:off x="9719220" y="1694817"/>
            <a:ext cx="450574" cy="23562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67B858-C94A-40C1-526E-87FC54B70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>
            <a:extLst>
              <a:ext uri="{FF2B5EF4-FFF2-40B4-BE49-F238E27FC236}">
                <a16:creationId xmlns:a16="http://schemas.microsoft.com/office/drawing/2014/main" id="{CC64AC18-F5C8-43B9-5C5F-27042F679499}"/>
              </a:ext>
            </a:extLst>
          </p:cNvPr>
          <p:cNvSpPr/>
          <p:nvPr/>
        </p:nvSpPr>
        <p:spPr>
          <a:xfrm>
            <a:off x="249228" y="1042416"/>
            <a:ext cx="11693237" cy="2360309"/>
          </a:xfrm>
          <a:prstGeom prst="rect">
            <a:avLst/>
          </a:prstGeom>
          <a:solidFill>
            <a:schemeClr val="tx2">
              <a:lumMod val="20000"/>
              <a:lumOff val="80000"/>
              <a:alpha val="7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857643-F5BC-6C05-A4A8-13A927707920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F154AA-E734-674E-D3B8-53D5112C773F}"/>
              </a:ext>
            </a:extLst>
          </p:cNvPr>
          <p:cNvSpPr txBox="1"/>
          <p:nvPr/>
        </p:nvSpPr>
        <p:spPr>
          <a:xfrm>
            <a:off x="64008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03  系统总体设计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30687-DED5-BDC1-80DF-60E2796C7E34}"/>
              </a:ext>
            </a:extLst>
          </p:cNvPr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E0EF"/>
                </a:solidFill>
                <a:latin typeface="Microsoft YaHei"/>
              </a:defRPr>
            </a:pPr>
            <a:r>
              <a:t>System Architecture Overview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DA0A85-2317-A68B-BD8C-C187014FBCCA}"/>
              </a:ext>
            </a:extLst>
          </p:cNvPr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9E62E6-6D3E-E74B-C208-F8409454AD75}"/>
              </a:ext>
            </a:extLst>
          </p:cNvPr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5/14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93BB49E-B295-C3FC-ACA5-F61F91F30A8C}"/>
              </a:ext>
            </a:extLst>
          </p:cNvPr>
          <p:cNvSpPr/>
          <p:nvPr/>
        </p:nvSpPr>
        <p:spPr>
          <a:xfrm>
            <a:off x="450574" y="2226365"/>
            <a:ext cx="11105322" cy="967409"/>
          </a:xfrm>
          <a:prstGeom prst="roundRect">
            <a:avLst/>
          </a:prstGeom>
          <a:solidFill>
            <a:srgbClr val="FB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" name="六边形 6">
            <a:extLst>
              <a:ext uri="{FF2B5EF4-FFF2-40B4-BE49-F238E27FC236}">
                <a16:creationId xmlns:a16="http://schemas.microsoft.com/office/drawing/2014/main" id="{C79D9B4A-800B-08AB-18B9-0FE374BC96DC}"/>
              </a:ext>
            </a:extLst>
          </p:cNvPr>
          <p:cNvSpPr/>
          <p:nvPr/>
        </p:nvSpPr>
        <p:spPr>
          <a:xfrm>
            <a:off x="753716" y="2411895"/>
            <a:ext cx="2186610" cy="596348"/>
          </a:xfrm>
          <a:prstGeom prst="hexagon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Report</a:t>
            </a:r>
            <a:r>
              <a:rPr kumimoji="1" lang="zh-CN" altLang="en-US" dirty="0"/>
              <a:t> </a:t>
            </a:r>
            <a:r>
              <a:rPr kumimoji="1" lang="en-US" altLang="zh-CN" dirty="0"/>
              <a:t>Agent</a:t>
            </a:r>
          </a:p>
          <a:p>
            <a:pPr algn="ctr"/>
            <a:r>
              <a:rPr kumimoji="1" lang="zh-CN" altLang="en-US" sz="1200" dirty="0"/>
              <a:t>（数据聚合与报告生成）</a:t>
            </a:r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F2B7E3BE-2BBA-76AB-F191-5F75B9AEFB91}"/>
              </a:ext>
            </a:extLst>
          </p:cNvPr>
          <p:cNvSpPr/>
          <p:nvPr/>
        </p:nvSpPr>
        <p:spPr>
          <a:xfrm>
            <a:off x="4959626" y="2411895"/>
            <a:ext cx="2186610" cy="596348"/>
          </a:xfrm>
          <a:prstGeom prst="hexagon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Crawler</a:t>
            </a:r>
            <a:r>
              <a:rPr kumimoji="1" lang="zh-CN" altLang="en-US" dirty="0"/>
              <a:t> </a:t>
            </a:r>
            <a:r>
              <a:rPr kumimoji="1" lang="en-US" altLang="zh-CN" dirty="0"/>
              <a:t>Agent</a:t>
            </a:r>
          </a:p>
          <a:p>
            <a:pPr algn="ctr"/>
            <a:r>
              <a:rPr kumimoji="1" lang="zh-CN" altLang="en-US" sz="1200" dirty="0"/>
              <a:t>（启发式探索决策）</a:t>
            </a:r>
          </a:p>
        </p:txBody>
      </p:sp>
      <p:sp>
        <p:nvSpPr>
          <p:cNvPr id="9" name="六边形 8">
            <a:extLst>
              <a:ext uri="{FF2B5EF4-FFF2-40B4-BE49-F238E27FC236}">
                <a16:creationId xmlns:a16="http://schemas.microsoft.com/office/drawing/2014/main" id="{917B84F7-5AD8-B108-47CB-8B5B91AEC34A}"/>
              </a:ext>
            </a:extLst>
          </p:cNvPr>
          <p:cNvSpPr/>
          <p:nvPr/>
        </p:nvSpPr>
        <p:spPr>
          <a:xfrm>
            <a:off x="8998227" y="2411895"/>
            <a:ext cx="2186610" cy="596348"/>
          </a:xfrm>
          <a:prstGeom prst="hexagon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Detector</a:t>
            </a:r>
            <a:r>
              <a:rPr kumimoji="1" lang="zh-CN" altLang="en-US" dirty="0"/>
              <a:t> </a:t>
            </a:r>
            <a:r>
              <a:rPr kumimoji="1" lang="en-US" altLang="zh-CN" dirty="0"/>
              <a:t>Agent</a:t>
            </a:r>
          </a:p>
          <a:p>
            <a:pPr algn="ctr"/>
            <a:r>
              <a:rPr kumimoji="1" lang="zh-CN" altLang="en-US" sz="1200" dirty="0"/>
              <a:t>（</a:t>
            </a:r>
            <a:r>
              <a:rPr kumimoji="1" lang="en-US" altLang="zh-CN" sz="1200" dirty="0"/>
              <a:t>AI</a:t>
            </a:r>
            <a:r>
              <a:rPr kumimoji="1" lang="zh-CN" altLang="en-US" sz="1200" dirty="0"/>
              <a:t>语义与视觉检测）</a:t>
            </a:r>
          </a:p>
        </p:txBody>
      </p:sp>
      <p:sp>
        <p:nvSpPr>
          <p:cNvPr id="10" name="六边形 9">
            <a:extLst>
              <a:ext uri="{FF2B5EF4-FFF2-40B4-BE49-F238E27FC236}">
                <a16:creationId xmlns:a16="http://schemas.microsoft.com/office/drawing/2014/main" id="{020B1A4E-6041-8812-B023-E3906953680E}"/>
              </a:ext>
            </a:extLst>
          </p:cNvPr>
          <p:cNvSpPr/>
          <p:nvPr/>
        </p:nvSpPr>
        <p:spPr>
          <a:xfrm>
            <a:off x="4914749" y="1186732"/>
            <a:ext cx="2176971" cy="596348"/>
          </a:xfrm>
          <a:prstGeom prst="hexagon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Master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Agent</a:t>
            </a:r>
            <a:r>
              <a:rPr kumimoji="1" lang="zh-CN" altLang="en-US" sz="1200" dirty="0"/>
              <a:t>（任务规划与调度）</a:t>
            </a:r>
            <a:endParaRPr kumimoji="1"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E1D557-0587-A132-F142-303CD96516FD}"/>
              </a:ext>
            </a:extLst>
          </p:cNvPr>
          <p:cNvSpPr/>
          <p:nvPr/>
        </p:nvSpPr>
        <p:spPr>
          <a:xfrm>
            <a:off x="450574" y="3637059"/>
            <a:ext cx="2652844" cy="2874818"/>
          </a:xfrm>
          <a:custGeom>
            <a:avLst/>
            <a:gdLst>
              <a:gd name="csX0" fmla="*/ 0 w 2652844"/>
              <a:gd name="csY0" fmla="*/ 0 h 2874818"/>
              <a:gd name="csX1" fmla="*/ 504040 w 2652844"/>
              <a:gd name="csY1" fmla="*/ 0 h 2874818"/>
              <a:gd name="csX2" fmla="*/ 981552 w 2652844"/>
              <a:gd name="csY2" fmla="*/ 0 h 2874818"/>
              <a:gd name="csX3" fmla="*/ 1538650 w 2652844"/>
              <a:gd name="csY3" fmla="*/ 0 h 2874818"/>
              <a:gd name="csX4" fmla="*/ 2069218 w 2652844"/>
              <a:gd name="csY4" fmla="*/ 0 h 2874818"/>
              <a:gd name="csX5" fmla="*/ 2652844 w 2652844"/>
              <a:gd name="csY5" fmla="*/ 0 h 2874818"/>
              <a:gd name="csX6" fmla="*/ 2652844 w 2652844"/>
              <a:gd name="csY6" fmla="*/ 632460 h 2874818"/>
              <a:gd name="csX7" fmla="*/ 2652844 w 2652844"/>
              <a:gd name="csY7" fmla="*/ 1236172 h 2874818"/>
              <a:gd name="csX8" fmla="*/ 2652844 w 2652844"/>
              <a:gd name="csY8" fmla="*/ 1753639 h 2874818"/>
              <a:gd name="csX9" fmla="*/ 2652844 w 2652844"/>
              <a:gd name="csY9" fmla="*/ 2357351 h 2874818"/>
              <a:gd name="csX10" fmla="*/ 2652844 w 2652844"/>
              <a:gd name="csY10" fmla="*/ 2874818 h 2874818"/>
              <a:gd name="csX11" fmla="*/ 2095747 w 2652844"/>
              <a:gd name="csY11" fmla="*/ 2874818 h 2874818"/>
              <a:gd name="csX12" fmla="*/ 1538650 w 2652844"/>
              <a:gd name="csY12" fmla="*/ 2874818 h 2874818"/>
              <a:gd name="csX13" fmla="*/ 955024 w 2652844"/>
              <a:gd name="csY13" fmla="*/ 2874818 h 2874818"/>
              <a:gd name="csX14" fmla="*/ 0 w 2652844"/>
              <a:gd name="csY14" fmla="*/ 2874818 h 2874818"/>
              <a:gd name="csX15" fmla="*/ 0 w 2652844"/>
              <a:gd name="csY15" fmla="*/ 2242358 h 2874818"/>
              <a:gd name="csX16" fmla="*/ 0 w 2652844"/>
              <a:gd name="csY16" fmla="*/ 1724891 h 2874818"/>
              <a:gd name="csX17" fmla="*/ 0 w 2652844"/>
              <a:gd name="csY17" fmla="*/ 1149927 h 2874818"/>
              <a:gd name="csX18" fmla="*/ 0 w 2652844"/>
              <a:gd name="csY18" fmla="*/ 546215 h 2874818"/>
              <a:gd name="csX19" fmla="*/ 0 w 2652844"/>
              <a:gd name="csY19" fmla="*/ 0 h 28748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2652844" h="2874818" fill="none" extrusionOk="0">
                <a:moveTo>
                  <a:pt x="0" y="0"/>
                </a:moveTo>
                <a:cubicBezTo>
                  <a:pt x="232710" y="-9424"/>
                  <a:pt x="355454" y="47187"/>
                  <a:pt x="504040" y="0"/>
                </a:cubicBezTo>
                <a:cubicBezTo>
                  <a:pt x="652626" y="-47187"/>
                  <a:pt x="806955" y="6777"/>
                  <a:pt x="981552" y="0"/>
                </a:cubicBezTo>
                <a:cubicBezTo>
                  <a:pt x="1156149" y="-6777"/>
                  <a:pt x="1294793" y="58404"/>
                  <a:pt x="1538650" y="0"/>
                </a:cubicBezTo>
                <a:cubicBezTo>
                  <a:pt x="1782507" y="-58404"/>
                  <a:pt x="1924262" y="50858"/>
                  <a:pt x="2069218" y="0"/>
                </a:cubicBezTo>
                <a:cubicBezTo>
                  <a:pt x="2214174" y="-50858"/>
                  <a:pt x="2371183" y="58073"/>
                  <a:pt x="2652844" y="0"/>
                </a:cubicBezTo>
                <a:cubicBezTo>
                  <a:pt x="2714161" y="182829"/>
                  <a:pt x="2580080" y="425833"/>
                  <a:pt x="2652844" y="632460"/>
                </a:cubicBezTo>
                <a:cubicBezTo>
                  <a:pt x="2725608" y="839087"/>
                  <a:pt x="2581858" y="1102317"/>
                  <a:pt x="2652844" y="1236172"/>
                </a:cubicBezTo>
                <a:cubicBezTo>
                  <a:pt x="2723830" y="1370027"/>
                  <a:pt x="2609701" y="1596717"/>
                  <a:pt x="2652844" y="1753639"/>
                </a:cubicBezTo>
                <a:cubicBezTo>
                  <a:pt x="2695987" y="1910561"/>
                  <a:pt x="2596424" y="2132270"/>
                  <a:pt x="2652844" y="2357351"/>
                </a:cubicBezTo>
                <a:cubicBezTo>
                  <a:pt x="2709264" y="2582432"/>
                  <a:pt x="2603217" y="2724606"/>
                  <a:pt x="2652844" y="2874818"/>
                </a:cubicBezTo>
                <a:cubicBezTo>
                  <a:pt x="2500595" y="2885991"/>
                  <a:pt x="2347371" y="2815779"/>
                  <a:pt x="2095747" y="2874818"/>
                </a:cubicBezTo>
                <a:cubicBezTo>
                  <a:pt x="1844123" y="2933857"/>
                  <a:pt x="1785758" y="2862371"/>
                  <a:pt x="1538650" y="2874818"/>
                </a:cubicBezTo>
                <a:cubicBezTo>
                  <a:pt x="1291542" y="2887265"/>
                  <a:pt x="1190360" y="2850500"/>
                  <a:pt x="955024" y="2874818"/>
                </a:cubicBezTo>
                <a:cubicBezTo>
                  <a:pt x="719688" y="2899136"/>
                  <a:pt x="303209" y="2855163"/>
                  <a:pt x="0" y="2874818"/>
                </a:cubicBezTo>
                <a:cubicBezTo>
                  <a:pt x="-24423" y="2661781"/>
                  <a:pt x="67055" y="2490496"/>
                  <a:pt x="0" y="2242358"/>
                </a:cubicBezTo>
                <a:cubicBezTo>
                  <a:pt x="-67055" y="1994220"/>
                  <a:pt x="60164" y="1917747"/>
                  <a:pt x="0" y="1724891"/>
                </a:cubicBezTo>
                <a:cubicBezTo>
                  <a:pt x="-60164" y="1532035"/>
                  <a:pt x="11082" y="1381314"/>
                  <a:pt x="0" y="1149927"/>
                </a:cubicBezTo>
                <a:cubicBezTo>
                  <a:pt x="-11082" y="918540"/>
                  <a:pt x="35412" y="797501"/>
                  <a:pt x="0" y="546215"/>
                </a:cubicBezTo>
                <a:cubicBezTo>
                  <a:pt x="-35412" y="294929"/>
                  <a:pt x="61260" y="126597"/>
                  <a:pt x="0" y="0"/>
                </a:cubicBezTo>
                <a:close/>
              </a:path>
              <a:path w="2652844" h="2874818" stroke="0" extrusionOk="0">
                <a:moveTo>
                  <a:pt x="0" y="0"/>
                </a:moveTo>
                <a:cubicBezTo>
                  <a:pt x="190990" y="-44658"/>
                  <a:pt x="316506" y="38190"/>
                  <a:pt x="504040" y="0"/>
                </a:cubicBezTo>
                <a:cubicBezTo>
                  <a:pt x="691574" y="-38190"/>
                  <a:pt x="755575" y="32389"/>
                  <a:pt x="955024" y="0"/>
                </a:cubicBezTo>
                <a:cubicBezTo>
                  <a:pt x="1154473" y="-32389"/>
                  <a:pt x="1335947" y="7979"/>
                  <a:pt x="1538650" y="0"/>
                </a:cubicBezTo>
                <a:cubicBezTo>
                  <a:pt x="1741353" y="-7979"/>
                  <a:pt x="1857449" y="44488"/>
                  <a:pt x="2042690" y="0"/>
                </a:cubicBezTo>
                <a:cubicBezTo>
                  <a:pt x="2227931" y="-44488"/>
                  <a:pt x="2504958" y="891"/>
                  <a:pt x="2652844" y="0"/>
                </a:cubicBezTo>
                <a:cubicBezTo>
                  <a:pt x="2679098" y="210769"/>
                  <a:pt x="2580076" y="362325"/>
                  <a:pt x="2652844" y="632460"/>
                </a:cubicBezTo>
                <a:cubicBezTo>
                  <a:pt x="2725612" y="902595"/>
                  <a:pt x="2619809" y="1020436"/>
                  <a:pt x="2652844" y="1207424"/>
                </a:cubicBezTo>
                <a:cubicBezTo>
                  <a:pt x="2685879" y="1394412"/>
                  <a:pt x="2645642" y="1618117"/>
                  <a:pt x="2652844" y="1782387"/>
                </a:cubicBezTo>
                <a:cubicBezTo>
                  <a:pt x="2660046" y="1946657"/>
                  <a:pt x="2615391" y="2146723"/>
                  <a:pt x="2652844" y="2299854"/>
                </a:cubicBezTo>
                <a:cubicBezTo>
                  <a:pt x="2690297" y="2452985"/>
                  <a:pt x="2649229" y="2711315"/>
                  <a:pt x="2652844" y="2874818"/>
                </a:cubicBezTo>
                <a:cubicBezTo>
                  <a:pt x="2430795" y="2925603"/>
                  <a:pt x="2333595" y="2867837"/>
                  <a:pt x="2122275" y="2874818"/>
                </a:cubicBezTo>
                <a:cubicBezTo>
                  <a:pt x="1910955" y="2881799"/>
                  <a:pt x="1766515" y="2844947"/>
                  <a:pt x="1618235" y="2874818"/>
                </a:cubicBezTo>
                <a:cubicBezTo>
                  <a:pt x="1469955" y="2904689"/>
                  <a:pt x="1168587" y="2828037"/>
                  <a:pt x="1034609" y="2874818"/>
                </a:cubicBezTo>
                <a:cubicBezTo>
                  <a:pt x="900631" y="2921599"/>
                  <a:pt x="603228" y="2841420"/>
                  <a:pt x="450983" y="2874818"/>
                </a:cubicBezTo>
                <a:cubicBezTo>
                  <a:pt x="298738" y="2908216"/>
                  <a:pt x="179376" y="2874735"/>
                  <a:pt x="0" y="2874818"/>
                </a:cubicBezTo>
                <a:cubicBezTo>
                  <a:pt x="-27316" y="2676671"/>
                  <a:pt x="10722" y="2505070"/>
                  <a:pt x="0" y="2299854"/>
                </a:cubicBezTo>
                <a:cubicBezTo>
                  <a:pt x="-10722" y="2094638"/>
                  <a:pt x="62267" y="1928575"/>
                  <a:pt x="0" y="1753639"/>
                </a:cubicBezTo>
                <a:cubicBezTo>
                  <a:pt x="-62267" y="1578704"/>
                  <a:pt x="17305" y="1420779"/>
                  <a:pt x="0" y="1264920"/>
                </a:cubicBezTo>
                <a:cubicBezTo>
                  <a:pt x="-17305" y="1109061"/>
                  <a:pt x="27676" y="973066"/>
                  <a:pt x="0" y="747453"/>
                </a:cubicBezTo>
                <a:cubicBezTo>
                  <a:pt x="-27676" y="521840"/>
                  <a:pt x="54509" y="290370"/>
                  <a:pt x="0" y="0"/>
                </a:cubicBezTo>
                <a:close/>
              </a:path>
            </a:pathLst>
          </a:custGeom>
          <a:solidFill>
            <a:srgbClr val="FBFFB2"/>
          </a:solidFill>
          <a:ln>
            <a:solidFill>
              <a:schemeClr val="accent1">
                <a:shade val="95000"/>
                <a:satMod val="10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DDFF2B7-DFBE-00D2-D799-EB56D14A799D}"/>
              </a:ext>
            </a:extLst>
          </p:cNvPr>
          <p:cNvSpPr/>
          <p:nvPr/>
        </p:nvSpPr>
        <p:spPr>
          <a:xfrm>
            <a:off x="3350390" y="3637059"/>
            <a:ext cx="2652844" cy="2874818"/>
          </a:xfrm>
          <a:prstGeom prst="rect">
            <a:avLst/>
          </a:prstGeom>
          <a:solidFill>
            <a:srgbClr val="FBFFB2"/>
          </a:solidFill>
          <a:ln>
            <a:solidFill>
              <a:schemeClr val="accent1">
                <a:shade val="95000"/>
                <a:satMod val="10500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961F4B-C667-0B09-1132-ED291BE344B9}"/>
              </a:ext>
            </a:extLst>
          </p:cNvPr>
          <p:cNvSpPr/>
          <p:nvPr/>
        </p:nvSpPr>
        <p:spPr>
          <a:xfrm>
            <a:off x="6250206" y="3637059"/>
            <a:ext cx="2652844" cy="2874818"/>
          </a:xfrm>
          <a:prstGeom prst="rect">
            <a:avLst/>
          </a:prstGeom>
          <a:solidFill>
            <a:srgbClr val="FBFFB2"/>
          </a:solidFill>
          <a:ln>
            <a:solidFill>
              <a:schemeClr val="accent1">
                <a:shade val="95000"/>
                <a:satMod val="10500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68F27D-5FBD-8E54-E128-EA57A43CDC3C}"/>
              </a:ext>
            </a:extLst>
          </p:cNvPr>
          <p:cNvSpPr/>
          <p:nvPr/>
        </p:nvSpPr>
        <p:spPr>
          <a:xfrm>
            <a:off x="9150022" y="3637059"/>
            <a:ext cx="2652844" cy="2874818"/>
          </a:xfrm>
          <a:prstGeom prst="rect">
            <a:avLst/>
          </a:prstGeom>
          <a:solidFill>
            <a:srgbClr val="FBFFB2"/>
          </a:solidFill>
          <a:ln>
            <a:solidFill>
              <a:schemeClr val="accent1">
                <a:shade val="95000"/>
                <a:satMod val="10500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终止符 15">
            <a:extLst>
              <a:ext uri="{FF2B5EF4-FFF2-40B4-BE49-F238E27FC236}">
                <a16:creationId xmlns:a16="http://schemas.microsoft.com/office/drawing/2014/main" id="{34FFF1F4-B555-6B1A-351B-899540977F19}"/>
              </a:ext>
            </a:extLst>
          </p:cNvPr>
          <p:cNvSpPr/>
          <p:nvPr/>
        </p:nvSpPr>
        <p:spPr>
          <a:xfrm>
            <a:off x="640080" y="4693468"/>
            <a:ext cx="2172754" cy="762000"/>
          </a:xfrm>
          <a:prstGeom prst="flowChartTerminato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多维度无障碍合规报告</a:t>
            </a:r>
          </a:p>
        </p:txBody>
      </p:sp>
      <p:sp>
        <p:nvSpPr>
          <p:cNvPr id="17" name="圆柱体 16">
            <a:extLst>
              <a:ext uri="{FF2B5EF4-FFF2-40B4-BE49-F238E27FC236}">
                <a16:creationId xmlns:a16="http://schemas.microsoft.com/office/drawing/2014/main" id="{7811466A-FDB2-87AD-4984-C8D30B900FA6}"/>
              </a:ext>
            </a:extLst>
          </p:cNvPr>
          <p:cNvSpPr/>
          <p:nvPr/>
        </p:nvSpPr>
        <p:spPr>
          <a:xfrm>
            <a:off x="3667540" y="4032971"/>
            <a:ext cx="852957" cy="689504"/>
          </a:xfrm>
          <a:prstGeom prst="ca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短期工作记忆</a:t>
            </a:r>
          </a:p>
        </p:txBody>
      </p:sp>
      <p:sp>
        <p:nvSpPr>
          <p:cNvPr id="18" name="圆柱体 17">
            <a:extLst>
              <a:ext uri="{FF2B5EF4-FFF2-40B4-BE49-F238E27FC236}">
                <a16:creationId xmlns:a16="http://schemas.microsoft.com/office/drawing/2014/main" id="{58CDB401-20B2-90B1-496E-89C7DFD2B5D3}"/>
              </a:ext>
            </a:extLst>
          </p:cNvPr>
          <p:cNvSpPr/>
          <p:nvPr/>
        </p:nvSpPr>
        <p:spPr>
          <a:xfrm>
            <a:off x="3519056" y="5455468"/>
            <a:ext cx="1149926" cy="689504"/>
          </a:xfrm>
          <a:prstGeom prst="ca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长期经验记忆</a:t>
            </a:r>
          </a:p>
        </p:txBody>
      </p:sp>
      <p:sp>
        <p:nvSpPr>
          <p:cNvPr id="19" name="圆柱体 18">
            <a:extLst>
              <a:ext uri="{FF2B5EF4-FFF2-40B4-BE49-F238E27FC236}">
                <a16:creationId xmlns:a16="http://schemas.microsoft.com/office/drawing/2014/main" id="{1C3F7D03-5274-70BA-79FA-A545E14C1A63}"/>
              </a:ext>
            </a:extLst>
          </p:cNvPr>
          <p:cNvSpPr/>
          <p:nvPr/>
        </p:nvSpPr>
        <p:spPr>
          <a:xfrm>
            <a:off x="4799426" y="5455468"/>
            <a:ext cx="1073363" cy="689504"/>
          </a:xfrm>
          <a:prstGeom prst="ca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PostgreSQL</a:t>
            </a:r>
            <a:endParaRPr kumimoji="1"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E0C3F63-4903-2BD5-D47C-FA4F4AFA7EBD}"/>
              </a:ext>
            </a:extLst>
          </p:cNvPr>
          <p:cNvSpPr/>
          <p:nvPr/>
        </p:nvSpPr>
        <p:spPr>
          <a:xfrm>
            <a:off x="6835410" y="3851564"/>
            <a:ext cx="1463463" cy="52615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PlayWright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浏览器池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27D33A3-D48F-4011-E503-A1154F0A9771}"/>
              </a:ext>
            </a:extLst>
          </p:cNvPr>
          <p:cNvSpPr/>
          <p:nvPr/>
        </p:nvSpPr>
        <p:spPr>
          <a:xfrm>
            <a:off x="6844896" y="4811388"/>
            <a:ext cx="1463463" cy="52615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页面分析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85F7DF-BA6F-6304-D1C1-76FA39662E53}"/>
              </a:ext>
            </a:extLst>
          </p:cNvPr>
          <p:cNvSpPr/>
          <p:nvPr/>
        </p:nvSpPr>
        <p:spPr>
          <a:xfrm>
            <a:off x="6844896" y="5771212"/>
            <a:ext cx="1463463" cy="52615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突发事件响应器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9EE249E-2807-45F7-E84C-5DF596021EF4}"/>
              </a:ext>
            </a:extLst>
          </p:cNvPr>
          <p:cNvSpPr/>
          <p:nvPr/>
        </p:nvSpPr>
        <p:spPr>
          <a:xfrm>
            <a:off x="9784080" y="3851564"/>
            <a:ext cx="1463463" cy="8419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基于规则基础检测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3C6493F-4EAB-C115-31D0-3099E419DF36}"/>
              </a:ext>
            </a:extLst>
          </p:cNvPr>
          <p:cNvSpPr/>
          <p:nvPr/>
        </p:nvSpPr>
        <p:spPr>
          <a:xfrm>
            <a:off x="9784080" y="5129572"/>
            <a:ext cx="1463463" cy="1015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检测</a:t>
            </a:r>
            <a:b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视觉对比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语义一致性</a:t>
            </a:r>
          </a:p>
        </p:txBody>
      </p:sp>
      <p:cxnSp>
        <p:nvCxnSpPr>
          <p:cNvPr id="44" name="曲线连接符 43">
            <a:extLst>
              <a:ext uri="{FF2B5EF4-FFF2-40B4-BE49-F238E27FC236}">
                <a16:creationId xmlns:a16="http://schemas.microsoft.com/office/drawing/2014/main" id="{9C9A7DC5-8DAA-E04A-43AC-2A4040C18A1D}"/>
              </a:ext>
            </a:extLst>
          </p:cNvPr>
          <p:cNvCxnSpPr>
            <a:cxnSpLocks/>
            <a:stCxn id="10" idx="3"/>
          </p:cNvCxnSpPr>
          <p:nvPr/>
        </p:nvCxnSpPr>
        <p:spPr>
          <a:xfrm rot="10800000" flipV="1">
            <a:off x="1726457" y="1484906"/>
            <a:ext cx="3188292" cy="912690"/>
          </a:xfrm>
          <a:prstGeom prst="curvedConnector3">
            <a:avLst>
              <a:gd name="adj1" fmla="val 9953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曲线连接符 61">
            <a:extLst>
              <a:ext uri="{FF2B5EF4-FFF2-40B4-BE49-F238E27FC236}">
                <a16:creationId xmlns:a16="http://schemas.microsoft.com/office/drawing/2014/main" id="{7A472E51-5CF9-2E2A-3193-1EB562B998E4}"/>
              </a:ext>
            </a:extLst>
          </p:cNvPr>
          <p:cNvCxnSpPr>
            <a:cxnSpLocks/>
            <a:stCxn id="10" idx="2"/>
            <a:endCxn id="8" idx="3"/>
          </p:cNvCxnSpPr>
          <p:nvPr/>
        </p:nvCxnSpPr>
        <p:spPr>
          <a:xfrm rot="5400000">
            <a:off x="4548237" y="2194469"/>
            <a:ext cx="926989" cy="104210"/>
          </a:xfrm>
          <a:prstGeom prst="curvedConnector4">
            <a:avLst>
              <a:gd name="adj1" fmla="val 11497"/>
              <a:gd name="adj2" fmla="val 135636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曲线连接符 68">
            <a:extLst>
              <a:ext uri="{FF2B5EF4-FFF2-40B4-BE49-F238E27FC236}">
                <a16:creationId xmlns:a16="http://schemas.microsoft.com/office/drawing/2014/main" id="{33102D9B-BCB3-D33B-7979-90E66EF02FD0}"/>
              </a:ext>
            </a:extLst>
          </p:cNvPr>
          <p:cNvCxnSpPr>
            <a:cxnSpLocks/>
            <a:stCxn id="10" idx="0"/>
          </p:cNvCxnSpPr>
          <p:nvPr/>
        </p:nvCxnSpPr>
        <p:spPr>
          <a:xfrm>
            <a:off x="7091720" y="1484906"/>
            <a:ext cx="2999812" cy="908051"/>
          </a:xfrm>
          <a:prstGeom prst="curvedConnector3">
            <a:avLst>
              <a:gd name="adj1" fmla="val 9895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5536BBB9-11E8-DC44-E6DA-41BC000884C2}"/>
              </a:ext>
            </a:extLst>
          </p:cNvPr>
          <p:cNvSpPr txBox="1"/>
          <p:nvPr/>
        </p:nvSpPr>
        <p:spPr>
          <a:xfrm>
            <a:off x="1141252" y="1849884"/>
            <a:ext cx="1080655" cy="24622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Plan</a:t>
            </a:r>
            <a:r>
              <a:rPr kumimoji="1" lang="zh-CN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REPORT</a:t>
            </a:r>
            <a:endParaRPr kumimoji="1"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54C6E1D4-592B-6D74-4EFF-24221317C410}"/>
              </a:ext>
            </a:extLst>
          </p:cNvPr>
          <p:cNvSpPr txBox="1"/>
          <p:nvPr/>
        </p:nvSpPr>
        <p:spPr>
          <a:xfrm>
            <a:off x="3150161" y="1881612"/>
            <a:ext cx="1248717" cy="24622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Plan</a:t>
            </a:r>
            <a:r>
              <a:rPr kumimoji="1" lang="zh-CN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EXPLORE</a:t>
            </a:r>
            <a:endParaRPr kumimoji="1"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122A7B2B-CDC5-8179-2A25-C63F3143C7D4}"/>
              </a:ext>
            </a:extLst>
          </p:cNvPr>
          <p:cNvSpPr txBox="1"/>
          <p:nvPr/>
        </p:nvSpPr>
        <p:spPr>
          <a:xfrm>
            <a:off x="9481028" y="1807768"/>
            <a:ext cx="895124" cy="24622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Plan</a:t>
            </a:r>
            <a:r>
              <a:rPr kumimoji="1" lang="zh-CN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TEST</a:t>
            </a:r>
            <a:endParaRPr kumimoji="1"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4" name="曲线连接符 93">
            <a:extLst>
              <a:ext uri="{FF2B5EF4-FFF2-40B4-BE49-F238E27FC236}">
                <a16:creationId xmlns:a16="http://schemas.microsoft.com/office/drawing/2014/main" id="{D56852F3-A744-FFD1-10B7-696A532CBF38}"/>
              </a:ext>
            </a:extLst>
          </p:cNvPr>
          <p:cNvCxnSpPr>
            <a:cxnSpLocks/>
          </p:cNvCxnSpPr>
          <p:nvPr/>
        </p:nvCxnSpPr>
        <p:spPr>
          <a:xfrm rot="10800000">
            <a:off x="7041575" y="1590863"/>
            <a:ext cx="1819911" cy="62588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4B06DC3F-5E7A-1458-682E-2812849378EE}"/>
              </a:ext>
            </a:extLst>
          </p:cNvPr>
          <p:cNvSpPr txBox="1"/>
          <p:nvPr/>
        </p:nvSpPr>
        <p:spPr>
          <a:xfrm>
            <a:off x="7447271" y="1783786"/>
            <a:ext cx="1019815" cy="24622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State Update</a:t>
            </a:r>
            <a:endParaRPr kumimoji="1"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116B747D-6978-9ECC-E781-DD36010E1A96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4094019" y="4722475"/>
            <a:ext cx="0" cy="7329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41378618-8DBE-B83A-8C68-6D34A5200188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1726457" y="3008243"/>
            <a:ext cx="0" cy="16852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69961FED-3DBF-5613-BE32-C17192569AB5}"/>
              </a:ext>
            </a:extLst>
          </p:cNvPr>
          <p:cNvSpPr txBox="1"/>
          <p:nvPr/>
        </p:nvSpPr>
        <p:spPr>
          <a:xfrm>
            <a:off x="1186129" y="3443413"/>
            <a:ext cx="1080655" cy="24622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总结输出</a:t>
            </a:r>
          </a:p>
        </p:txBody>
      </p:sp>
      <p:cxnSp>
        <p:nvCxnSpPr>
          <p:cNvPr id="109" name="直线箭头连接符 108">
            <a:extLst>
              <a:ext uri="{FF2B5EF4-FFF2-40B4-BE49-F238E27FC236}">
                <a16:creationId xmlns:a16="http://schemas.microsoft.com/office/drawing/2014/main" id="{8755247B-F97E-F13D-5698-6B02C9F4B3D8}"/>
              </a:ext>
            </a:extLst>
          </p:cNvPr>
          <p:cNvCxnSpPr/>
          <p:nvPr/>
        </p:nvCxnSpPr>
        <p:spPr>
          <a:xfrm>
            <a:off x="4094018" y="3193774"/>
            <a:ext cx="0" cy="4432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B5DB4C3F-2F91-FCCE-FF96-2F59FCA1C429}"/>
              </a:ext>
            </a:extLst>
          </p:cNvPr>
          <p:cNvSpPr txBox="1"/>
          <p:nvPr/>
        </p:nvSpPr>
        <p:spPr>
          <a:xfrm>
            <a:off x="3350390" y="3304997"/>
            <a:ext cx="1510144" cy="24622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读写上下文与经验</a:t>
            </a:r>
          </a:p>
        </p:txBody>
      </p:sp>
      <p:cxnSp>
        <p:nvCxnSpPr>
          <p:cNvPr id="112" name="曲线连接符 111">
            <a:extLst>
              <a:ext uri="{FF2B5EF4-FFF2-40B4-BE49-F238E27FC236}">
                <a16:creationId xmlns:a16="http://schemas.microsoft.com/office/drawing/2014/main" id="{BDB7506A-88A5-461F-B6C6-066DC9B26885}"/>
              </a:ext>
            </a:extLst>
          </p:cNvPr>
          <p:cNvCxnSpPr>
            <a:cxnSpLocks/>
            <a:endCxn id="13" idx="0"/>
          </p:cNvCxnSpPr>
          <p:nvPr/>
        </p:nvCxnSpPr>
        <p:spPr>
          <a:xfrm rot="16200000" flipH="1">
            <a:off x="6897937" y="2958368"/>
            <a:ext cx="926990" cy="430392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6CE63982-61C1-ED20-0DF6-D521961CAE2D}"/>
              </a:ext>
            </a:extLst>
          </p:cNvPr>
          <p:cNvSpPr txBox="1"/>
          <p:nvPr/>
        </p:nvSpPr>
        <p:spPr>
          <a:xfrm>
            <a:off x="6912213" y="3064879"/>
            <a:ext cx="1080655" cy="40011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生成动作</a:t>
            </a:r>
            <a:r>
              <a:rPr kumimoji="1" lang="en-US" altLang="zh-CN" sz="1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1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返回页面状态</a:t>
            </a:r>
          </a:p>
        </p:txBody>
      </p:sp>
      <p:cxnSp>
        <p:nvCxnSpPr>
          <p:cNvPr id="116" name="直线箭头连接符 115">
            <a:extLst>
              <a:ext uri="{FF2B5EF4-FFF2-40B4-BE49-F238E27FC236}">
                <a16:creationId xmlns:a16="http://schemas.microsoft.com/office/drawing/2014/main" id="{869C4ABD-94BE-DEAF-2F70-919EA72953F2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7567142" y="4377723"/>
            <a:ext cx="9486" cy="433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直线箭头连接符 118">
            <a:extLst>
              <a:ext uri="{FF2B5EF4-FFF2-40B4-BE49-F238E27FC236}">
                <a16:creationId xmlns:a16="http://schemas.microsoft.com/office/drawing/2014/main" id="{DC095A3E-B12E-F62E-FB4E-57BBE70B8412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7576628" y="5337547"/>
            <a:ext cx="0" cy="433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曲线连接符 122">
            <a:extLst>
              <a:ext uri="{FF2B5EF4-FFF2-40B4-BE49-F238E27FC236}">
                <a16:creationId xmlns:a16="http://schemas.microsoft.com/office/drawing/2014/main" id="{B25BF9E7-0571-082F-AF01-7B3165D8094B}"/>
              </a:ext>
            </a:extLst>
          </p:cNvPr>
          <p:cNvCxnSpPr>
            <a:cxnSpLocks/>
            <a:stCxn id="22" idx="2"/>
            <a:endCxn id="19" idx="1"/>
          </p:cNvCxnSpPr>
          <p:nvPr/>
        </p:nvCxnSpPr>
        <p:spPr>
          <a:xfrm rot="5400000" flipH="1">
            <a:off x="6035416" y="4756160"/>
            <a:ext cx="841903" cy="2240520"/>
          </a:xfrm>
          <a:prstGeom prst="curvedConnector5">
            <a:avLst>
              <a:gd name="adj1" fmla="val -27153"/>
              <a:gd name="adj2" fmla="val 54353"/>
              <a:gd name="adj3" fmla="val 127153"/>
            </a:avLst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曲线连接符 127">
            <a:extLst>
              <a:ext uri="{FF2B5EF4-FFF2-40B4-BE49-F238E27FC236}">
                <a16:creationId xmlns:a16="http://schemas.microsoft.com/office/drawing/2014/main" id="{A64E8629-B498-5633-1852-289BAF599059}"/>
              </a:ext>
            </a:extLst>
          </p:cNvPr>
          <p:cNvCxnSpPr>
            <a:cxnSpLocks/>
            <a:stCxn id="24" idx="2"/>
            <a:endCxn id="19" idx="4"/>
          </p:cNvCxnSpPr>
          <p:nvPr/>
        </p:nvCxnSpPr>
        <p:spPr>
          <a:xfrm rot="5400000" flipH="1">
            <a:off x="8021925" y="3651085"/>
            <a:ext cx="344752" cy="4643023"/>
          </a:xfrm>
          <a:prstGeom prst="curvedConnector4">
            <a:avLst>
              <a:gd name="adj1" fmla="val -182852"/>
              <a:gd name="adj2" fmla="val 9607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F4729A3E-F4A3-F900-D1D8-85E146654E33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10515812" y="4693468"/>
            <a:ext cx="0" cy="436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258D544C-9B32-51AE-E9E8-ACAB03984EF6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10515811" y="2961807"/>
            <a:ext cx="1" cy="8897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文本框 139">
            <a:extLst>
              <a:ext uri="{FF2B5EF4-FFF2-40B4-BE49-F238E27FC236}">
                <a16:creationId xmlns:a16="http://schemas.microsoft.com/office/drawing/2014/main" id="{77661627-B696-70CD-1574-A0B6114BA763}"/>
              </a:ext>
            </a:extLst>
          </p:cNvPr>
          <p:cNvSpPr txBox="1"/>
          <p:nvPr/>
        </p:nvSpPr>
        <p:spPr>
          <a:xfrm>
            <a:off x="9975483" y="3217120"/>
            <a:ext cx="1080655" cy="40011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下发检测</a:t>
            </a:r>
            <a:r>
              <a:rPr kumimoji="1" lang="en-US" altLang="zh-CN" sz="1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1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返回分析结果</a:t>
            </a:r>
          </a:p>
        </p:txBody>
      </p:sp>
    </p:spTree>
    <p:extLst>
      <p:ext uri="{BB962C8B-B14F-4D97-AF65-F5344CB8AC3E}">
        <p14:creationId xmlns:p14="http://schemas.microsoft.com/office/powerpoint/2010/main" val="3359299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04  多智能体协同引擎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E0EF"/>
                </a:solidFill>
                <a:latin typeface="Microsoft YaHei"/>
              </a:defRPr>
            </a:pPr>
            <a:r>
              <a:t>Multi-Agent Orchestration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2F5C"/>
                </a:solidFill>
                <a:latin typeface="Microsoft YaHei"/>
              </a:defRPr>
            </a:pPr>
            <a:r>
              <a:rPr dirty="0" err="1"/>
              <a:t>LangGraph</a:t>
            </a:r>
            <a:r>
              <a:rPr dirty="0"/>
              <a:t> </a:t>
            </a:r>
            <a:r>
              <a:rPr dirty="0" err="1"/>
              <a:t>状态机编排</a:t>
            </a:r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763929" y="1920240"/>
            <a:ext cx="1064871" cy="54864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600" dirty="0"/>
              <a:t>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28800"/>
            <a:ext cx="1371600" cy="73152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600" dirty="0"/>
              <a:t>Plan</a:t>
            </a:r>
            <a:br>
              <a:rPr dirty="0"/>
            </a:br>
            <a:r>
              <a:rPr sz="1600" dirty="0"/>
              <a:t>(Master)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5029200" y="1828800"/>
            <a:ext cx="137160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600" dirty="0"/>
              <a:t>Explore</a:t>
            </a:r>
            <a:br>
              <a:rPr sz="1600" dirty="0"/>
            </a:br>
            <a:r>
              <a:rPr sz="1600" dirty="0"/>
              <a:t>(Crawler)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828800"/>
            <a:ext cx="137160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600" dirty="0"/>
              <a:t>Test</a:t>
            </a:r>
            <a:br>
              <a:rPr sz="1600" dirty="0"/>
            </a:br>
            <a:r>
              <a:rPr sz="1600" dirty="0"/>
              <a:t>(Detector)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1828800"/>
            <a:ext cx="1371600" cy="7315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600" dirty="0"/>
              <a:t>Report</a:t>
            </a:r>
            <a:br>
              <a:rPr sz="1600" dirty="0"/>
            </a:br>
            <a:r>
              <a:rPr sz="1600" dirty="0"/>
              <a:t>(Reporter)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730597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F5C"/>
                </a:solidFill>
                <a:latin typeface="Microsoft YaHei"/>
              </a:defRPr>
            </a:pPr>
            <a:r>
              <a:rPr sz="2000" dirty="0" err="1"/>
              <a:t>四大Agent职责</a:t>
            </a:r>
            <a:endParaRPr sz="2000" dirty="0"/>
          </a:p>
        </p:txBody>
      </p:sp>
      <p:sp>
        <p:nvSpPr>
          <p:cNvPr id="20" name="Rounded Rectangle 19"/>
          <p:cNvSpPr/>
          <p:nvPr/>
        </p:nvSpPr>
        <p:spPr>
          <a:xfrm>
            <a:off x="640080" y="3332988"/>
            <a:ext cx="5303520" cy="1385316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415284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Microsoft YaHei"/>
              </a:defRPr>
            </a:pPr>
            <a:r>
              <a:rPr sz="1600" dirty="0"/>
              <a:t>Master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415284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全局调度决策</a:t>
            </a:r>
            <a:endParaRPr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822960" y="3808195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rPr sz="1400" dirty="0" err="1"/>
              <a:t>基于进度统计决定EXPLORE</a:t>
            </a:r>
            <a:r>
              <a:rPr sz="1400" dirty="0"/>
              <a:t>/TEST/REPORT/COMPLETE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91940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rPr sz="1400" dirty="0" err="1"/>
              <a:t>结合领域长期记忆优化策略</a:t>
            </a:r>
            <a:endParaRPr sz="1400" dirty="0"/>
          </a:p>
        </p:txBody>
      </p:sp>
      <p:sp>
        <p:nvSpPr>
          <p:cNvPr id="25" name="Rounded Rectangle 24"/>
          <p:cNvSpPr/>
          <p:nvPr/>
        </p:nvSpPr>
        <p:spPr>
          <a:xfrm>
            <a:off x="640080" y="4782312"/>
            <a:ext cx="5303520" cy="1385316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80060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rPr sz="1600" dirty="0"/>
              <a:t>Crawler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800600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智能导航决策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822960" y="5139154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rPr sz="1400" dirty="0"/>
              <a:t>分析A11y树与交互元素，决定点击/</a:t>
            </a:r>
            <a:r>
              <a:rPr sz="1400" dirty="0" err="1"/>
              <a:t>导航</a:t>
            </a:r>
            <a:r>
              <a:rPr sz="1400" dirty="0"/>
              <a:t>/</a:t>
            </a:r>
            <a:r>
              <a:rPr sz="1400" dirty="0" err="1"/>
              <a:t>滚动</a:t>
            </a:r>
            <a:r>
              <a:rPr sz="1400" dirty="0"/>
              <a:t>/</a:t>
            </a:r>
            <a:r>
              <a:rPr sz="1400" dirty="0" err="1"/>
              <a:t>填写</a:t>
            </a:r>
            <a:endParaRPr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822960" y="542395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rPr sz="1400" dirty="0" err="1"/>
              <a:t>智能截断输入</a:t>
            </a:r>
            <a:r>
              <a:rPr sz="1400" dirty="0"/>
              <a:t>(50元素,20URL)</a:t>
            </a:r>
            <a:r>
              <a:rPr sz="1400" dirty="0" err="1"/>
              <a:t>控制Token</a:t>
            </a:r>
            <a:endParaRPr sz="1400" dirty="0"/>
          </a:p>
        </p:txBody>
      </p:sp>
      <p:sp>
        <p:nvSpPr>
          <p:cNvPr id="30" name="Rounded Rectangle 29"/>
          <p:cNvSpPr/>
          <p:nvPr/>
        </p:nvSpPr>
        <p:spPr>
          <a:xfrm>
            <a:off x="6248402" y="3332988"/>
            <a:ext cx="5303520" cy="1403604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31282" y="343040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rPr sz="1600" dirty="0"/>
              <a:t>Detector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418536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多维度检测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6431282" y="3807023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rPr sz="1400" dirty="0" err="1"/>
              <a:t>三层分析:规则检查→AI语义→多模态视觉</a:t>
            </a:r>
            <a:endParaRPr sz="1400" dirty="0"/>
          </a:p>
        </p:txBody>
      </p:sp>
      <p:sp>
        <p:nvSpPr>
          <p:cNvPr id="34" name="TextBox 33"/>
          <p:cNvSpPr txBox="1"/>
          <p:nvPr/>
        </p:nvSpPr>
        <p:spPr>
          <a:xfrm>
            <a:off x="6420477" y="4087368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rPr sz="1400" dirty="0" err="1"/>
              <a:t>视觉分析对比元素外观与标签语义一致性</a:t>
            </a:r>
            <a:endParaRPr dirty="0"/>
          </a:p>
        </p:txBody>
      </p:sp>
      <p:sp>
        <p:nvSpPr>
          <p:cNvPr id="35" name="Rounded Rectangle 34"/>
          <p:cNvSpPr/>
          <p:nvPr/>
        </p:nvSpPr>
        <p:spPr>
          <a:xfrm>
            <a:off x="6248402" y="4800600"/>
            <a:ext cx="5303520" cy="1380744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31282" y="4818888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  <a:latin typeface="Microsoft YaHei"/>
              </a:defRPr>
            </a:pPr>
            <a:r>
              <a:rPr sz="1600" dirty="0"/>
              <a:t>Reporter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818888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报告生成</a:t>
            </a:r>
            <a:endParaRPr dirty="0"/>
          </a:p>
        </p:txBody>
      </p:sp>
      <p:sp>
        <p:nvSpPr>
          <p:cNvPr id="38" name="TextBox 37"/>
          <p:cNvSpPr txBox="1"/>
          <p:nvPr/>
        </p:nvSpPr>
        <p:spPr>
          <a:xfrm>
            <a:off x="6431282" y="5136142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rPr sz="1400" dirty="0" err="1"/>
              <a:t>汇总统计数据生成摘要与改进建议</a:t>
            </a:r>
            <a:endParaRPr dirty="0"/>
          </a:p>
        </p:txBody>
      </p:sp>
      <p:sp>
        <p:nvSpPr>
          <p:cNvPr id="39" name="TextBox 38"/>
          <p:cNvSpPr txBox="1"/>
          <p:nvPr/>
        </p:nvSpPr>
        <p:spPr>
          <a:xfrm>
            <a:off x="6431282" y="5423951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rPr sz="1400" dirty="0" err="1"/>
              <a:t>自动计算各WCAG级别达标分数</a:t>
            </a:r>
            <a:endParaRPr sz="1400" dirty="0"/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7/14</a:t>
            </a:r>
          </a:p>
        </p:txBody>
      </p:sp>
      <p:sp>
        <p:nvSpPr>
          <p:cNvPr id="41" name="右箭头 40">
            <a:extLst>
              <a:ext uri="{FF2B5EF4-FFF2-40B4-BE49-F238E27FC236}">
                <a16:creationId xmlns:a16="http://schemas.microsoft.com/office/drawing/2014/main" id="{FC3C0E74-49E0-817F-7469-77A7978D4F12}"/>
              </a:ext>
            </a:extLst>
          </p:cNvPr>
          <p:cNvSpPr/>
          <p:nvPr/>
        </p:nvSpPr>
        <p:spPr>
          <a:xfrm>
            <a:off x="4352081" y="2103120"/>
            <a:ext cx="509286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右箭头 41">
            <a:extLst>
              <a:ext uri="{FF2B5EF4-FFF2-40B4-BE49-F238E27FC236}">
                <a16:creationId xmlns:a16="http://schemas.microsoft.com/office/drawing/2014/main" id="{52B5D4B5-2834-382D-7688-FC550304E1D4}"/>
              </a:ext>
            </a:extLst>
          </p:cNvPr>
          <p:cNvSpPr/>
          <p:nvPr/>
        </p:nvSpPr>
        <p:spPr>
          <a:xfrm>
            <a:off x="6626506" y="2103120"/>
            <a:ext cx="509286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右箭头 42">
            <a:extLst>
              <a:ext uri="{FF2B5EF4-FFF2-40B4-BE49-F238E27FC236}">
                <a16:creationId xmlns:a16="http://schemas.microsoft.com/office/drawing/2014/main" id="{162246DD-A0A1-E6F4-CE7A-121C2BB247A6}"/>
              </a:ext>
            </a:extLst>
          </p:cNvPr>
          <p:cNvSpPr/>
          <p:nvPr/>
        </p:nvSpPr>
        <p:spPr>
          <a:xfrm>
            <a:off x="2064537" y="2057400"/>
            <a:ext cx="509286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右箭头 43">
            <a:extLst>
              <a:ext uri="{FF2B5EF4-FFF2-40B4-BE49-F238E27FC236}">
                <a16:creationId xmlns:a16="http://schemas.microsoft.com/office/drawing/2014/main" id="{30E39215-7F24-2613-1AB9-1935E7B636D5}"/>
              </a:ext>
            </a:extLst>
          </p:cNvPr>
          <p:cNvSpPr/>
          <p:nvPr/>
        </p:nvSpPr>
        <p:spPr>
          <a:xfrm>
            <a:off x="8889357" y="2103120"/>
            <a:ext cx="509286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04  Agent记忆系统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E0EF"/>
                </a:solidFill>
                <a:latin typeface="Microsoft YaHei"/>
              </a:defRPr>
            </a:pPr>
            <a:r>
              <a:t>Short-term &amp; Long-term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Microsoft YaHei"/>
              </a:defRPr>
            </a:pPr>
            <a:r>
              <a:rPr dirty="0" err="1"/>
              <a:t>短期记忆</a:t>
            </a:r>
            <a:r>
              <a:rPr dirty="0"/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02920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9"/>
              </a:spcAft>
            </a:pPr>
            <a:r>
              <a:rPr sz="1200" dirty="0">
                <a:solidFill>
                  <a:srgbClr val="0096C7"/>
                </a:solidFill>
              </a:rPr>
              <a:t>●  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基于有界双端队列</a:t>
            </a:r>
            <a:r>
              <a:rPr sz="1400" dirty="0">
                <a:solidFill>
                  <a:srgbClr val="333333"/>
                </a:solidFill>
                <a:latin typeface="Microsoft YaHei"/>
              </a:rPr>
              <a:t> ，容量100条</a:t>
            </a:r>
          </a:p>
          <a:p>
            <a:pPr>
              <a:spcAft>
                <a:spcPts val="759"/>
              </a:spcAft>
            </a:pPr>
            <a:r>
              <a:rPr sz="1200" dirty="0">
                <a:solidFill>
                  <a:srgbClr val="0096C7"/>
                </a:solidFill>
              </a:rPr>
              <a:t>●  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记录类型</a:t>
            </a:r>
            <a:r>
              <a:rPr sz="1400" dirty="0">
                <a:solidFill>
                  <a:srgbClr val="333333"/>
                </a:solidFill>
                <a:latin typeface="Microsoft YaHei"/>
              </a:rPr>
              <a:t>: 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发现页面</a:t>
            </a:r>
            <a:r>
              <a:rPr sz="1400" dirty="0">
                <a:solidFill>
                  <a:srgbClr val="333333"/>
                </a:solidFill>
                <a:latin typeface="Microsoft YaHei"/>
              </a:rPr>
              <a:t>/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检测问题</a:t>
            </a:r>
            <a:r>
              <a:rPr sz="1400" dirty="0">
                <a:solidFill>
                  <a:srgbClr val="333333"/>
                </a:solidFill>
                <a:latin typeface="Microsoft YaHei"/>
              </a:rPr>
              <a:t>/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Agent推理</a:t>
            </a:r>
            <a:r>
              <a:rPr sz="1400" dirty="0">
                <a:solidFill>
                  <a:srgbClr val="333333"/>
                </a:solidFill>
                <a:latin typeface="Microsoft YaHei"/>
              </a:rPr>
              <a:t>/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遍历动作</a:t>
            </a:r>
            <a:endParaRPr sz="14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759"/>
              </a:spcAft>
            </a:pPr>
            <a:r>
              <a:rPr sz="1200" dirty="0">
                <a:solidFill>
                  <a:srgbClr val="0096C7"/>
                </a:solidFill>
              </a:rPr>
              <a:t>●  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提供</a:t>
            </a:r>
            <a:r>
              <a:rPr sz="1400" dirty="0">
                <a:solidFill>
                  <a:srgbClr val="333333"/>
                </a:solidFill>
                <a:latin typeface="Microsoft YaHei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get_context_summary</a:t>
            </a:r>
            <a:r>
              <a:rPr sz="1400" dirty="0">
                <a:solidFill>
                  <a:srgbClr val="333333"/>
                </a:solidFill>
                <a:latin typeface="Microsoft YaHei"/>
              </a:rPr>
              <a:t>() 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生成LLM上下文</a:t>
            </a:r>
            <a:endParaRPr sz="14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759"/>
              </a:spcAft>
            </a:pPr>
            <a:r>
              <a:rPr sz="1200" dirty="0">
                <a:solidFill>
                  <a:srgbClr val="0096C7"/>
                </a:solidFill>
              </a:rPr>
              <a:t>●  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单次检测任务内共享，任务结束后释放</a:t>
            </a:r>
            <a:endParaRPr sz="14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759"/>
              </a:spcAft>
            </a:pPr>
            <a:r>
              <a:rPr sz="1200" dirty="0">
                <a:solidFill>
                  <a:srgbClr val="0096C7"/>
                </a:solidFill>
              </a:rPr>
              <a:t>●  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作用</a:t>
            </a:r>
            <a:r>
              <a:rPr sz="1400" dirty="0">
                <a:solidFill>
                  <a:srgbClr val="333333"/>
                </a:solidFill>
                <a:latin typeface="Microsoft YaHei"/>
              </a:rPr>
              <a:t>: 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为Agent提供当前任务的即时上下文</a:t>
            </a:r>
            <a:endParaRPr sz="1400" dirty="0">
              <a:solidFill>
                <a:srgbClr val="333333"/>
              </a:solidFill>
              <a:latin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E44AD"/>
                </a:solidFill>
                <a:latin typeface="Microsoft YaHei"/>
              </a:defRPr>
            </a:pPr>
            <a:r>
              <a:rPr dirty="0" err="1"/>
              <a:t>长期记忆</a:t>
            </a:r>
            <a:r>
              <a:rPr dirty="0"/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0292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0"/>
              </a:spcAft>
            </a:pPr>
            <a:r>
              <a:rPr sz="1200" dirty="0">
                <a:solidFill>
                  <a:srgbClr val="8E44AD"/>
                </a:solidFill>
              </a:rPr>
              <a:t>●  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持久化存储于PostgreSQL</a:t>
            </a:r>
            <a:r>
              <a:rPr sz="1400" dirty="0">
                <a:solidFill>
                  <a:srgbClr val="333333"/>
                </a:solidFill>
                <a:latin typeface="Microsoft YaHei"/>
              </a:rPr>
              <a:t> </a:t>
            </a:r>
          </a:p>
          <a:p>
            <a:pPr>
              <a:spcAft>
                <a:spcPts val="620"/>
              </a:spcAft>
            </a:pPr>
            <a:r>
              <a:rPr sz="1200" dirty="0">
                <a:solidFill>
                  <a:srgbClr val="8E44AD"/>
                </a:solidFill>
              </a:rPr>
              <a:t>●  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三类记忆类型，模仿人类认知结构</a:t>
            </a:r>
            <a:r>
              <a:rPr sz="1400" dirty="0">
                <a:solidFill>
                  <a:srgbClr val="333333"/>
                </a:solidFill>
                <a:latin typeface="Microsoft YaHei"/>
              </a:rPr>
              <a:t>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473452"/>
            <a:ext cx="1645920" cy="1847476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564892"/>
            <a:ext cx="146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C7"/>
                </a:solidFill>
                <a:latin typeface="Microsoft YaHei"/>
              </a:defRPr>
            </a:pPr>
            <a:r>
              <a:rPr sz="1600" dirty="0" err="1"/>
              <a:t>情景记忆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492240" y="3000448"/>
            <a:ext cx="14630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rPr sz="1400" dirty="0" err="1"/>
              <a:t>记录具体检测经历"该域名XX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</a:t>
            </a:r>
            <a:r>
              <a:rPr sz="1400" dirty="0" err="1"/>
              <a:t>面发现N个对比度问题</a:t>
            </a:r>
            <a:r>
              <a:rPr sz="1400" dirty="0"/>
              <a:t>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473452"/>
            <a:ext cx="1645920" cy="1847476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2564892"/>
            <a:ext cx="146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rPr sz="1600" dirty="0" err="1"/>
              <a:t>语义记忆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275320" y="2954178"/>
            <a:ext cx="14630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rPr sz="1400" dirty="0" err="1"/>
              <a:t>总结领域模式知识"电商网站通常在商品详情页缺少图片替代文本</a:t>
            </a:r>
            <a:r>
              <a:rPr sz="1400" dirty="0"/>
              <a:t>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2473452"/>
            <a:ext cx="1645920" cy="1847476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0" y="2564892"/>
            <a:ext cx="146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9C12"/>
                </a:solidFill>
                <a:latin typeface="Microsoft YaHei"/>
              </a:defRPr>
            </a:pPr>
            <a:r>
              <a:rPr sz="1600" dirty="0" err="1"/>
              <a:t>程序性记忆</a:t>
            </a:r>
            <a:endParaRPr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10058400" y="3000447"/>
            <a:ext cx="14630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rPr sz="1400" dirty="0" err="1"/>
              <a:t>积累处理策略经验"SPA页面需等待路由加载完成后再检测</a:t>
            </a:r>
            <a:r>
              <a:rPr sz="1400" dirty="0"/>
              <a:t>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86193"/>
            <a:ext cx="11247120" cy="1847476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40080" y="467763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F5C"/>
                </a:solidFill>
                <a:latin typeface="Microsoft YaHei"/>
              </a:defRPr>
            </a:pPr>
            <a:r>
              <a:rPr dirty="0" err="1"/>
              <a:t>记忆工作流程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548640" y="4997673"/>
            <a:ext cx="1051560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</a:pPr>
            <a:r>
              <a:rPr sz="1400" dirty="0">
                <a:solidFill>
                  <a:srgbClr val="8E44AD"/>
                </a:solidFill>
              </a:rPr>
              <a:t>●  </a:t>
            </a:r>
            <a:r>
              <a:rPr sz="1400" dirty="0">
                <a:solidFill>
                  <a:srgbClr val="333333"/>
                </a:solidFill>
                <a:latin typeface="Microsoft YaHei"/>
              </a:rPr>
              <a:t>1. 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任务启动时</a:t>
            </a:r>
            <a:r>
              <a:rPr sz="1400" dirty="0">
                <a:solidFill>
                  <a:srgbClr val="333333"/>
                </a:solidFill>
                <a:latin typeface="Microsoft YaHei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recall_for_context</a:t>
            </a:r>
            <a:r>
              <a:rPr sz="1400" dirty="0">
                <a:solidFill>
                  <a:srgbClr val="333333"/>
                </a:solidFill>
                <a:latin typeface="Microsoft YaHei"/>
              </a:rPr>
              <a:t>() 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加载当前域名相关的长期记忆作为LLM上下文</a:t>
            </a:r>
            <a:endParaRPr sz="14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560"/>
              </a:spcAft>
            </a:pPr>
            <a:r>
              <a:rPr sz="1400" dirty="0">
                <a:solidFill>
                  <a:srgbClr val="8E44AD"/>
                </a:solidFill>
              </a:rPr>
              <a:t>●  </a:t>
            </a:r>
            <a:r>
              <a:rPr sz="1400" dirty="0">
                <a:solidFill>
                  <a:srgbClr val="333333"/>
                </a:solidFill>
                <a:latin typeface="Microsoft YaHei"/>
              </a:rPr>
              <a:t>2. 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检测过程中</a:t>
            </a:r>
            <a:r>
              <a:rPr sz="1400" dirty="0">
                <a:solidFill>
                  <a:srgbClr val="333333"/>
                </a:solidFill>
                <a:latin typeface="Microsoft YaHei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重要发现实时写入短期记忆，为后续Agent决策提供上下文</a:t>
            </a:r>
            <a:endParaRPr sz="14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560"/>
              </a:spcAft>
            </a:pPr>
            <a:r>
              <a:rPr sz="1400" dirty="0">
                <a:solidFill>
                  <a:srgbClr val="8E44AD"/>
                </a:solidFill>
              </a:rPr>
              <a:t>●  </a:t>
            </a:r>
            <a:r>
              <a:rPr sz="1400" dirty="0">
                <a:solidFill>
                  <a:srgbClr val="333333"/>
                </a:solidFill>
                <a:latin typeface="Microsoft YaHei"/>
              </a:rPr>
              <a:t>3. 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任务完成后</a:t>
            </a:r>
            <a:r>
              <a:rPr sz="1400" dirty="0">
                <a:solidFill>
                  <a:srgbClr val="333333"/>
                </a:solidFill>
                <a:latin typeface="Microsoft YaHei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将有价值的检测经验从短期记忆提炼并持久化为长期记忆</a:t>
            </a:r>
            <a:endParaRPr sz="1400" dirty="0">
              <a:solidFill>
                <a:srgbClr val="333333"/>
              </a:solidFill>
              <a:latin typeface="Microsoft YaHei"/>
            </a:endParaRPr>
          </a:p>
          <a:p>
            <a:pPr>
              <a:spcAft>
                <a:spcPts val="560"/>
              </a:spcAft>
            </a:pPr>
            <a:r>
              <a:rPr sz="1400" dirty="0">
                <a:solidFill>
                  <a:srgbClr val="8E44AD"/>
                </a:solidFill>
              </a:rPr>
              <a:t>●  </a:t>
            </a:r>
            <a:r>
              <a:rPr sz="1400" dirty="0">
                <a:solidFill>
                  <a:srgbClr val="333333"/>
                </a:solidFill>
                <a:latin typeface="Microsoft YaHei"/>
              </a:rPr>
              <a:t>4. 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跨任务复用</a:t>
            </a:r>
            <a:r>
              <a:rPr sz="1400" dirty="0">
                <a:solidFill>
                  <a:srgbClr val="333333"/>
                </a:solidFill>
                <a:latin typeface="Microsoft YaHei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Microsoft YaHei"/>
              </a:rPr>
              <a:t>同域名再次检测时，自动加载历史经验，实现持续学习与优化</a:t>
            </a:r>
            <a:endParaRPr sz="1400" dirty="0">
              <a:solidFill>
                <a:srgbClr val="333333"/>
              </a:solidFill>
              <a:latin typeface="Microsoft Ya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05  自适应智能遍历器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E0EF"/>
                </a:solidFill>
                <a:latin typeface="Microsoft YaHei"/>
              </a:defRPr>
            </a:pPr>
            <a:r>
              <a:t>Adaptive Intelligent Crawler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2F5C"/>
                </a:solidFill>
                <a:latin typeface="Microsoft YaHei"/>
              </a:defRPr>
            </a:pPr>
            <a:r>
              <a:t>核心遍历流程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029200" cy="363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55"/>
              </a:spcAft>
            </a:pPr>
            <a:r>
              <a:rPr sz="1600" dirty="0">
                <a:solidFill>
                  <a:srgbClr val="0096C7"/>
                </a:solidFill>
              </a:rPr>
              <a:t>●  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1. 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导航到目标URL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等待页面完全加载</a:t>
            </a:r>
            <a:endParaRPr sz="1600" dirty="0">
              <a:solidFill>
                <a:srgbClr val="333333"/>
              </a:solidFill>
              <a:latin typeface="Microsoft YaHei"/>
            </a:endParaRPr>
          </a:p>
          <a:p>
            <a:pPr>
              <a:lnSpc>
                <a:spcPct val="150000"/>
              </a:lnSpc>
              <a:spcAft>
                <a:spcPts val="655"/>
              </a:spcAft>
            </a:pPr>
            <a:r>
              <a:rPr sz="1600" dirty="0">
                <a:solidFill>
                  <a:srgbClr val="0096C7"/>
                </a:solidFill>
              </a:rPr>
              <a:t>●  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2. 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突发事件响应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自动处理弹窗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/Cookie/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广告</a:t>
            </a:r>
            <a:endParaRPr sz="1600" dirty="0">
              <a:solidFill>
                <a:srgbClr val="333333"/>
              </a:solidFill>
              <a:latin typeface="Microsoft YaHei"/>
            </a:endParaRPr>
          </a:p>
          <a:p>
            <a:pPr>
              <a:lnSpc>
                <a:spcPct val="150000"/>
              </a:lnSpc>
              <a:spcAft>
                <a:spcPts val="655"/>
              </a:spcAft>
            </a:pPr>
            <a:r>
              <a:rPr sz="1600" dirty="0">
                <a:solidFill>
                  <a:srgbClr val="0096C7"/>
                </a:solidFill>
              </a:rPr>
              <a:t>●  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3. 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页面深度分析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 → 提取A11y树/DOM/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交互元素</a:t>
            </a:r>
            <a:endParaRPr sz="1600" dirty="0">
              <a:solidFill>
                <a:srgbClr val="333333"/>
              </a:solidFill>
              <a:latin typeface="Microsoft YaHei"/>
            </a:endParaRPr>
          </a:p>
          <a:p>
            <a:pPr>
              <a:lnSpc>
                <a:spcPct val="150000"/>
              </a:lnSpc>
              <a:spcAft>
                <a:spcPts val="655"/>
              </a:spcAft>
            </a:pPr>
            <a:r>
              <a:rPr sz="1600" dirty="0">
                <a:solidFill>
                  <a:srgbClr val="0096C7"/>
                </a:solidFill>
              </a:rPr>
              <a:t>●  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4. 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语义去重检查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内容哈希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 + 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结构模板匹配</a:t>
            </a:r>
            <a:endParaRPr sz="1600" dirty="0">
              <a:solidFill>
                <a:srgbClr val="333333"/>
              </a:solidFill>
              <a:latin typeface="Microsoft YaHei"/>
            </a:endParaRPr>
          </a:p>
          <a:p>
            <a:pPr>
              <a:lnSpc>
                <a:spcPct val="150000"/>
              </a:lnSpc>
              <a:spcAft>
                <a:spcPts val="655"/>
              </a:spcAft>
            </a:pPr>
            <a:r>
              <a:rPr sz="1600" dirty="0">
                <a:solidFill>
                  <a:srgbClr val="0096C7"/>
                </a:solidFill>
              </a:rPr>
              <a:t>●  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5. 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状态图更新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记录节点与边的状态流转</a:t>
            </a:r>
            <a:endParaRPr sz="1600" dirty="0">
              <a:solidFill>
                <a:srgbClr val="333333"/>
              </a:solidFill>
              <a:latin typeface="Microsoft YaHei"/>
            </a:endParaRPr>
          </a:p>
          <a:p>
            <a:pPr>
              <a:lnSpc>
                <a:spcPct val="150000"/>
              </a:lnSpc>
              <a:spcAft>
                <a:spcPts val="655"/>
              </a:spcAft>
            </a:pPr>
            <a:r>
              <a:rPr sz="1600" dirty="0">
                <a:solidFill>
                  <a:srgbClr val="0096C7"/>
                </a:solidFill>
              </a:rPr>
              <a:t>●  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6. 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全页面截图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保存用于后续视觉分析</a:t>
            </a:r>
            <a:endParaRPr sz="1600" dirty="0">
              <a:solidFill>
                <a:srgbClr val="333333"/>
              </a:solidFill>
              <a:latin typeface="Microsoft YaHei"/>
            </a:endParaRPr>
          </a:p>
          <a:p>
            <a:pPr>
              <a:lnSpc>
                <a:spcPct val="150000"/>
              </a:lnSpc>
              <a:spcAft>
                <a:spcPts val="655"/>
              </a:spcAft>
            </a:pPr>
            <a:r>
              <a:rPr sz="1600" dirty="0">
                <a:solidFill>
                  <a:srgbClr val="0096C7"/>
                </a:solidFill>
              </a:rPr>
              <a:t>●  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7. 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链接发现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同域链接提取与去重</a:t>
            </a:r>
            <a:endParaRPr sz="1600" dirty="0">
              <a:solidFill>
                <a:srgbClr val="333333"/>
              </a:solidFill>
              <a:latin typeface="Microsoft YaHei"/>
            </a:endParaRPr>
          </a:p>
          <a:p>
            <a:pPr>
              <a:lnSpc>
                <a:spcPct val="150000"/>
              </a:lnSpc>
              <a:spcAft>
                <a:spcPts val="655"/>
              </a:spcAft>
            </a:pPr>
            <a:r>
              <a:rPr sz="1600" dirty="0">
                <a:solidFill>
                  <a:srgbClr val="0096C7"/>
                </a:solidFill>
              </a:rPr>
              <a:t>●  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8. 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启发式排序</a:t>
            </a:r>
            <a:r>
              <a:rPr sz="1600" dirty="0">
                <a:solidFill>
                  <a:srgbClr val="333333"/>
                </a:solidFill>
                <a:latin typeface="Microsoft YaHei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Microsoft YaHei"/>
              </a:rPr>
              <a:t>计算优先级评分，入队待探索</a:t>
            </a:r>
            <a:endParaRPr sz="1600" dirty="0">
              <a:solidFill>
                <a:srgbClr val="333333"/>
              </a:solidFill>
              <a:latin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2F5C"/>
                </a:solidFill>
                <a:latin typeface="Microsoft YaHei"/>
              </a:defRPr>
            </a:pPr>
            <a:r>
              <a:t>三大核心机制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120640" cy="150459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0292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874520"/>
            <a:ext cx="5208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Microsoft YaHei"/>
              </a:defRPr>
            </a:pPr>
            <a:r>
              <a:rPr dirty="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8745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F5C"/>
                </a:solidFill>
                <a:latin typeface="Microsoft YaHei"/>
              </a:defRPr>
            </a:pPr>
            <a:r>
              <a:t>启发式URL优先级评分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4028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rPr dirty="0"/>
              <a:t>基础分50分, 总分范围0-100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7802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高优先: 登录/注册/表单/搜索 (+30)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1576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深度惩罚: 随depth/max_depth线性递减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5351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父页面加分: 含表单+15, 有问题+10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69270"/>
            <a:ext cx="5120640" cy="15909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314990"/>
            <a:ext cx="50292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452150"/>
            <a:ext cx="5208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Microsoft YaHei"/>
              </a:defRPr>
            </a:pPr>
            <a:r>
              <a:rPr dirty="0"/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45215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F5C"/>
                </a:solidFill>
                <a:latin typeface="Microsoft YaHei"/>
              </a:defRPr>
            </a:pPr>
            <a:r>
              <a:t>两层语义去重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81791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精确层: SHA-256内容哈希直接比对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05565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模糊层: DOM结构签名(标题/表单/地标/图片)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29339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模板检测: 同模板3+实例后自动跳过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53114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有效避免商品页/博客等模板化页面重复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974220"/>
            <a:ext cx="51206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5019940"/>
            <a:ext cx="50292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5157100"/>
            <a:ext cx="5208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Microsoft YaHei"/>
              </a:defRPr>
            </a:pPr>
            <a:r>
              <a:rPr dirty="0"/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1571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F5C"/>
                </a:solidFill>
                <a:latin typeface="Microsoft YaHei"/>
              </a:defRPr>
            </a:pPr>
            <a:r>
              <a:t>突发事件响应器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52286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检测4类干扰: Cookie同意/弹窗/广告/Alert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76060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三级处理: 专用按钮 → 通用关闭 → Escape键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99834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CSS选择器模式匹配 + 可见性验证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623609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所有处理事件实时WebSocket通知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06  多层次检测引擎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E0EF"/>
                </a:solidFill>
                <a:latin typeface="Microsoft YaHei"/>
              </a:defRPr>
            </a:pPr>
            <a:r>
              <a:t>Multi-layer Detection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2F5C"/>
                </a:solidFill>
                <a:latin typeface="Microsoft YaHei"/>
              </a:defRPr>
            </a:pPr>
            <a:r>
              <a:t>三层融合检测架构: 规则层 → AI语义层 → 多模态视觉层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3566160" cy="310896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Microsoft YaHei"/>
              </a:defRPr>
            </a:pPr>
            <a:r>
              <a:t>Layer 1: 规则检测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确定性WCAG规则检查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img-alt: 图片替代文本缺失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3405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img-alt-quality: 无意义替代文本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5351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form-label: 表单标签关联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7296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heading-order: 标题层级跳跃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9242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html-lang: 页面语言声明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1188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rPr dirty="0"/>
              <a:t>• landmark: </a:t>
            </a:r>
            <a:r>
              <a:rPr dirty="0" err="1"/>
              <a:t>地标结构完整性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731520" y="383133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link-text: 链接文本可理解性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783080"/>
            <a:ext cx="3566160" cy="310896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18745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Layer 2: AI语义分析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LLM深度语义理解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51460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输入A11y树+HTML片段+规则结果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73405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覆盖WCAG四大原则: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95351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    可感知: 替代文本质量/颜色对比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17296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    可操作: 键盘可访问/焦点管理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39242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    可理解: 标签清晰/错误提示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61188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    鲁棒性: ARIA正确使用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83133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输出结构化JSON问题列表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05079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与规则结果互补，不重复计算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783080"/>
            <a:ext cx="3566160" cy="310896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18745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Layer 3: 多模态视觉分析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视觉LLM看图识别问题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51460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截图编码为Base64输入视觉LLM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73405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附加元素Bounding Box坐标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95351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核心检测维度: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17296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    "元素看起来像什么"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39242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    vs "标签说的是什么"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61188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    → 捕获语义不一致问题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83133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自动与已有问题去重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05079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发现纯规则/文本无法检测的问题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120640"/>
            <a:ext cx="11247120" cy="1600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20" y="5212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F5C"/>
                </a:solidFill>
                <a:latin typeface="Microsoft YaHei"/>
              </a:defRPr>
            </a:pPr>
            <a:r>
              <a:t>检测结果可视化: VisualAnnotator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</a:pPr>
            <a:r>
              <a:rPr sz="1000">
                <a:solidFill>
                  <a:srgbClr val="F39C12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Microsoft YaHei"/>
              </a:rPr>
              <a:t>四级严重度色彩编码: 严重(红) / 重要(橙) / 轻微(金) / 提示(蓝)</a:t>
            </a:r>
          </a:p>
          <a:p>
            <a:pPr>
              <a:spcAft>
                <a:spcPts val="560"/>
              </a:spcAft>
            </a:pPr>
            <a:r>
              <a:rPr sz="1000">
                <a:solidFill>
                  <a:srgbClr val="F39C12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Microsoft YaHei"/>
              </a:rPr>
              <a:t>四层匹配策略: 精确CSS选择器 → HTML属性匹配 → 模糊标签+属性 → 位置回退</a:t>
            </a:r>
          </a:p>
          <a:p>
            <a:pPr>
              <a:spcAft>
                <a:spcPts val="560"/>
              </a:spcAft>
            </a:pPr>
            <a:r>
              <a:rPr sz="1000">
                <a:solidFill>
                  <a:srgbClr val="F39C12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Microsoft YaHei"/>
              </a:rPr>
              <a:t>自动生成带标注的截图 + 图例说明，直观展示问题位置和类型</a:t>
            </a:r>
          </a:p>
          <a:p>
            <a:pPr>
              <a:spcAft>
                <a:spcPts val="560"/>
              </a:spcAft>
            </a:pPr>
            <a:r>
              <a:rPr sz="1000">
                <a:solidFill>
                  <a:srgbClr val="F39C12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Microsoft YaHei"/>
              </a:rPr>
              <a:t>支持CJK中文字体渲染，适配Linux/macOS双平台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07  人机协同工作台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E0EF"/>
                </a:solidFill>
                <a:latin typeface="Microsoft YaHei"/>
              </a:defRPr>
            </a:pPr>
            <a:r>
              <a:t>Human-AI Collaborative Workspace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610" y="12115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2F5C"/>
                </a:solidFill>
                <a:latin typeface="Microsoft YaHei"/>
              </a:defRPr>
            </a:pPr>
            <a:r>
              <a:rPr dirty="0" err="1"/>
              <a:t>核心功能页面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29490" y="1577340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仪表盘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92530" y="15773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全局总览: 项目统计/最近任务/问题趋势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490" y="18699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项目管理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2530" y="18699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项目CRUD/URL配置/检测历史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490" y="21625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任务创建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2530" y="216255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配置目标URL/WCAG级别/最大页面数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490" y="245516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任务详情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530" y="2455164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实时监控</a:t>
            </a:r>
            <a:r>
              <a:rPr dirty="0"/>
              <a:t>: </a:t>
            </a:r>
            <a:r>
              <a:rPr dirty="0" err="1"/>
              <a:t>进度</a:t>
            </a:r>
            <a:r>
              <a:rPr dirty="0"/>
              <a:t>/</a:t>
            </a:r>
            <a:r>
              <a:rPr dirty="0" err="1"/>
              <a:t>问题</a:t>
            </a:r>
            <a:r>
              <a:rPr dirty="0"/>
              <a:t>/</a:t>
            </a:r>
            <a:r>
              <a:rPr dirty="0" err="1"/>
              <a:t>推理日志</a:t>
            </a:r>
            <a:r>
              <a:rPr dirty="0"/>
              <a:t>/</a:t>
            </a:r>
            <a:r>
              <a:rPr dirty="0" err="1"/>
              <a:t>截图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429490" y="27477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报告查看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92530" y="27477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评分环形图/问题分布/标注截图/导出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490" y="30403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系统设置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2530" y="30403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LLM选择/API Key/检测参数配置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11/14</a:t>
            </a: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678A3556-F1E8-95E4-FFD8-9C0A57D7C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723" y="1069848"/>
            <a:ext cx="5444837" cy="270695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2BA3CE9B-4D53-7604-EFFB-FA0BE3D9D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0" y="3822518"/>
            <a:ext cx="6087874" cy="2856338"/>
          </a:xfrm>
          <a:prstGeom prst="rect">
            <a:avLst/>
          </a:prstGeom>
        </p:spPr>
      </p:pic>
      <p:pic>
        <p:nvPicPr>
          <p:cNvPr id="1026" name="Picture 2" descr="Screenshot of Glitter">
            <a:extLst>
              <a:ext uri="{FF2B5EF4-FFF2-40B4-BE49-F238E27FC236}">
                <a16:creationId xmlns:a16="http://schemas.microsoft.com/office/drawing/2014/main" id="{E060609C-5F3B-DBEA-54C4-C9F505F94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892" y="3809764"/>
            <a:ext cx="3531700" cy="2911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08  中期进展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E0EF"/>
                </a:solidFill>
                <a:latin typeface="Microsoft YaHei"/>
              </a:defRPr>
            </a:pPr>
            <a:r>
              <a:t>Mid-term Progress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已完成工作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1709928"/>
            <a:ext cx="1371600" cy="201168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75520" y="1709928"/>
            <a:ext cx="1371600" cy="20116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0" y="170078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✓  系统架构设计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91640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完成四层架构设计、数据库ER图、API接口规范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2002536"/>
            <a:ext cx="1371600" cy="201168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875520" y="2002536"/>
            <a:ext cx="1371600" cy="20116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0" y="19933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842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✓  多Agent编排引擎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98424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LangGraph状态图+4个Agent+记忆系统完整实现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2295144"/>
            <a:ext cx="1371600" cy="201168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875520" y="2295144"/>
            <a:ext cx="1371600" cy="20116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0" y="22860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27685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✓  自适应遍历器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276856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启发式评分+语义去重+事件响应+状态图全部实现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2587752"/>
            <a:ext cx="1371600" cy="201168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875520" y="2587752"/>
            <a:ext cx="1371600" cy="20116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0" y="2578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56946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✓  规则检测引擎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2569464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7条WCAG规则+Registry可扩展架构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0" y="2880360"/>
            <a:ext cx="1371600" cy="201168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875520" y="2880360"/>
            <a:ext cx="1371600" cy="20116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0" y="28712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28620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✓  AI语义检测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2862072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Detector Agent文本分析+Prompt设计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3172968"/>
            <a:ext cx="1371600" cy="201168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875520" y="3172968"/>
            <a:ext cx="1371600" cy="20116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58400" y="31638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154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✓  多模态视觉分析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3154680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截图Base64+Bbox+视觉LLM+结果去重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75520" y="3465576"/>
            <a:ext cx="1371600" cy="201168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875520" y="3465576"/>
            <a:ext cx="1371600" cy="20116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0" y="34564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34472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✓  可视化标注器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344728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四层Bbox匹配+严重度色彩+图例生成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75520" y="3758184"/>
            <a:ext cx="1371600" cy="201168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875520" y="3758184"/>
            <a:ext cx="1371600" cy="20116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058400" y="37490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37398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✓  前端工作台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3739896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6个页面+实时WebSocket+标注截图组件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75520" y="4050792"/>
            <a:ext cx="1371600" cy="201168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9875520" y="4050792"/>
            <a:ext cx="1371600" cy="20116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058400" y="40416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40325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icrosoft YaHei"/>
              </a:defRPr>
            </a:pPr>
            <a:r>
              <a:t>✓  Docker部署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4032504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四服务Compose编排+Nginx反向代理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303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主要技术难点与解决方案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56692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Microsoft YaHei"/>
              </a:defRPr>
            </a:pPr>
            <a:r>
              <a:t>HTTP/2代理兼容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0" y="566928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LLM API调用挂起 → 自定义httpx客户端强制HTTP/1.1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592531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Microsoft YaHei"/>
              </a:defRPr>
            </a:pPr>
            <a:r>
              <a:t>截图Bbox对齐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0" y="592531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滚动位置偏移 → 使用page-absolute坐标+全页面截图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" y="618134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Microsoft YaHei"/>
              </a:defRPr>
            </a:pPr>
            <a:r>
              <a:t>Token控制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0" y="6181344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Agent输入过长 → 智能截断(50元素, 20URL, 50KB HTML)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643737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Microsoft YaHei"/>
              </a:defRPr>
            </a:pPr>
            <a:r>
              <a:t>模板页去重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商品页重复遍历 → DOM结构签名+3实例阈值检测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08  后续工作计划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E0EF"/>
                </a:solidFill>
                <a:latin typeface="Microsoft YaHei"/>
              </a:defRPr>
            </a:pPr>
            <a:r>
              <a:t>Future Work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2F5C"/>
                </a:solidFill>
                <a:latin typeface="Microsoft YaHei"/>
              </a:defRPr>
            </a:pPr>
            <a:r>
              <a:t>剩余工作时间规划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737360"/>
            <a:ext cx="1828800" cy="3200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0" y="1755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737360"/>
            <a:ext cx="1828800" cy="3200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0" y="1755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5月上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737360"/>
            <a:ext cx="1828800" cy="3200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0" y="1755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5月下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1737360"/>
            <a:ext cx="1828800" cy="3200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0" y="1755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6月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系统测试与评估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2313432"/>
            <a:ext cx="3840480" cy="256032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260604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对标axe-core/WAVE等工具进行对比实验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80720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检测覆盖率/准确率/误报率量化评估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0837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多网站类型(政府/电商/教育)测试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3009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性能优化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328416"/>
            <a:ext cx="1920240" cy="256032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62102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并发检测性能优化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221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LLM调用成本控制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  <a:latin typeface="Microsoft YaHei"/>
              </a:defRPr>
            </a:pPr>
            <a:r>
              <a:t>论文撰写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4142232"/>
            <a:ext cx="3840480" cy="256032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43484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研究方法与实验结果章节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63600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论文修改与定稿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286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Microsoft YaHei"/>
              </a:defRPr>
            </a:pPr>
            <a:r>
              <a:t>答辩准备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4956048"/>
            <a:ext cx="1920240" cy="256032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24865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PPT制作与演示准备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44982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• 系统Demo演示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937760"/>
            <a:ext cx="11247120" cy="15544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5029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2F5C"/>
                </a:solidFill>
                <a:latin typeface="Microsoft YaHei"/>
              </a:defRPr>
            </a:pPr>
            <a:r>
              <a:t>预期成果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394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</a:pPr>
            <a:r>
              <a:rPr sz="1100">
                <a:solidFill>
                  <a:srgbClr val="27AE60"/>
                </a:solidFill>
              </a:rPr>
              <a:t>●  </a:t>
            </a:r>
            <a:r>
              <a:rPr sz="1300">
                <a:solidFill>
                  <a:srgbClr val="333333"/>
                </a:solidFill>
                <a:latin typeface="Microsoft YaHei"/>
              </a:rPr>
              <a:t>一套完整的基于多智能体技术的Web无障碍智能检测系统 (W4Agent)</a:t>
            </a:r>
          </a:p>
          <a:p>
            <a:pPr>
              <a:spcAft>
                <a:spcPts val="719"/>
              </a:spcAft>
            </a:pPr>
            <a:r>
              <a:rPr sz="1100">
                <a:solidFill>
                  <a:srgbClr val="27AE60"/>
                </a:solidFill>
              </a:rPr>
              <a:t>●  </a:t>
            </a:r>
            <a:r>
              <a:rPr sz="1300">
                <a:solidFill>
                  <a:srgbClr val="333333"/>
                </a:solidFill>
                <a:latin typeface="Microsoft YaHei"/>
              </a:rPr>
              <a:t>与主流工具(axe-core、WAVE、Lighthouse)的对比实验数据与分析</a:t>
            </a:r>
          </a:p>
          <a:p>
            <a:pPr>
              <a:spcAft>
                <a:spcPts val="719"/>
              </a:spcAft>
            </a:pPr>
            <a:r>
              <a:rPr sz="1100">
                <a:solidFill>
                  <a:srgbClr val="27AE60"/>
                </a:solidFill>
              </a:rPr>
              <a:t>●  </a:t>
            </a:r>
            <a:r>
              <a:rPr sz="1300">
                <a:solidFill>
                  <a:srgbClr val="333333"/>
                </a:solidFill>
                <a:latin typeface="Microsoft YaHei"/>
              </a:rPr>
              <a:t>一篇本科毕业论文 (预计约3-4万字)</a:t>
            </a:r>
          </a:p>
          <a:p>
            <a:pPr>
              <a:spcAft>
                <a:spcPts val="719"/>
              </a:spcAft>
            </a:pPr>
            <a:r>
              <a:rPr sz="1100">
                <a:solidFill>
                  <a:srgbClr val="27AE60"/>
                </a:solidFill>
              </a:rPr>
              <a:t>●  </a:t>
            </a:r>
            <a:r>
              <a:rPr sz="1300">
                <a:solidFill>
                  <a:srgbClr val="333333"/>
                </a:solidFill>
                <a:latin typeface="Microsoft YaHei"/>
              </a:rPr>
              <a:t>系统部署文档及使用手册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rPr lang="zh-CN" altLang="en-US" dirty="0"/>
              <a:t>恳请各位老师批评指正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0" y="3383280"/>
            <a:ext cx="121916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160"/>
              </a:spcAft>
              <a:defRPr sz="3600" b="1">
                <a:solidFill>
                  <a:srgbClr val="FFFFFF"/>
                </a:solidFill>
              </a:defRPr>
            </a:pPr>
            <a:r>
              <a:rPr lang="zh-CN" altLang="en-US" sz="2400" dirty="0"/>
              <a:t>基于</a:t>
            </a:r>
            <a:r>
              <a:rPr lang="en" altLang="zh-CN" sz="2400" dirty="0"/>
              <a:t>LLM</a:t>
            </a:r>
            <a:r>
              <a:rPr lang="zh-CN" altLang="en-US" sz="2400" dirty="0"/>
              <a:t>智能体的</a:t>
            </a:r>
            <a:r>
              <a:rPr lang="en" altLang="zh-CN" sz="2400" dirty="0"/>
              <a:t>Web</a:t>
            </a:r>
            <a:r>
              <a:rPr lang="zh-CN" altLang="en-US" sz="2400" dirty="0"/>
              <a:t>无障碍智能检测系统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7847" y="501291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rPr sz="1600" dirty="0" err="1"/>
              <a:t>答辩人</a:t>
            </a:r>
            <a:r>
              <a:rPr sz="1600" dirty="0"/>
              <a:t>：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袁烁</a:t>
            </a:r>
            <a:r>
              <a:rPr sz="1600" dirty="0"/>
              <a:t>   |    </a:t>
            </a:r>
            <a:r>
              <a:rPr sz="1600" dirty="0" err="1"/>
              <a:t>指导教师</a:t>
            </a:r>
            <a:r>
              <a:rPr sz="1600" dirty="0"/>
              <a:t>：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李丕绩</a:t>
            </a:r>
            <a:r>
              <a:rPr sz="1600" dirty="0" err="1"/>
              <a:t>教授</a:t>
            </a:r>
            <a:endParaRPr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1671</TotalTime>
  <Words>1353</Words>
  <Application>Microsoft Macintosh PowerPoint</Application>
  <PresentationFormat>宽屏</PresentationFormat>
  <Paragraphs>345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光智</cp:lastModifiedBy>
  <cp:revision>5</cp:revision>
  <dcterms:created xsi:type="dcterms:W3CDTF">2013-01-27T09:14:16Z</dcterms:created>
  <dcterms:modified xsi:type="dcterms:W3CDTF">2026-04-02T17:12:08Z</dcterms:modified>
  <cp:category/>
</cp:coreProperties>
</file>